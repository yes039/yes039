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2bb96d02-aa96-068f-1d8c-b27736dc79f0}">
          <p14:sldIdLst>
            <p14:sldId id="256"/>
          </p14:sldIdLst>
        </p14:section>
        <p14:section name="定位" id="{5c098936-2424-72e9-2a33-a48402f77dfa}">
          <p14:sldIdLst>
            <p14:sldId id="257"/>
            <p14:sldId id="258"/>
            <p14:sldId id="259"/>
          </p14:sldIdLst>
        </p14:section>
        <p14:section name="空間與服務" id="{2c98fff0-f1b1-0ca4-4a36-724e9e2d3863}">
          <p14:sldIdLst>
            <p14:sldId id="260"/>
            <p14:sldId id="261"/>
          </p14:sldIdLst>
        </p14:section>
        <p14:section name="產品" id="{2b8dc080-ab50-e477-851b-56488acdedf9}">
          <p14:sldIdLst>
            <p14:sldId id="262"/>
          </p14:sldIdLst>
        </p14:section>
        <p14:section name="財務" id="{02104101-9fc1-efd8-4dd8-6552e3fa3653}">
          <p14:sldIdLst>
            <p14:sldId id="263"/>
            <p14:sldId id="264"/>
          </p14:sldIdLst>
        </p14:section>
        <p14:section name="合規與執行" id="{f9f9d23e-9a0c-2eef-885c-d7602f2c3d0d}">
          <p14:sldIdLst>
            <p14:sldId id="265"/>
            <p14:sldId id="266"/>
          </p14:sldIdLst>
        </p14:section>
        <p14:section name="下一步" id="{603ff01d-9deb-1a33-66a5-4bd01f04ab76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F4A3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2F4A3A"/>
                </a:solidFill>
                <a:latin typeface="+mn-lt"/>
              </a:rPr>
              <a:t>入住率 vs 每月營運結餘（人民幣）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每月營運結餘</c:v>
                </c:pt>
              </c:strCache>
            </c:strRef>
          </c:tx>
          <c:spPr>
            <a:solidFill>
              <a:srgbClr val="7FA3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7A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FA3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A3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FA37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FA37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30%</c:v>
                  </c:pt>
                  <c:pt idx="1">
                    <c:v>40%</c:v>
                  </c:pt>
                  <c:pt idx="2">
                    <c:v>45%</c:v>
                  </c:pt>
                  <c:pt idx="3">
                    <c:v>55%</c:v>
                  </c:pt>
                  <c:pt idx="4">
                    <c:v>65%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-4040</c:v>
                </c:pt>
                <c:pt idx="1">
                  <c:v>12280</c:v>
                </c:pt>
                <c:pt idx="2">
                  <c:v>20440</c:v>
                </c:pt>
                <c:pt idx="3">
                  <c:v>36760</c:v>
                </c:pt>
                <c:pt idx="4">
                  <c:v>53080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本簡報整理康復療癒酒店的定位、空間、服務、產品、成本、損益、合規與開業順序。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面積應依建築現況、消防疏散、無障礙需求及餐飲規模核定，不宜只依房間數決定。客房不需要塞滿儀器：安靜、清潔、睡眠舒適度、氣味控制和服務品質更重要。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此模型用途是找出損益平衡入住率，而非追求高房價。投資前應再加入淡旺季、平台佣金、食材成本、員工配置、租金及設備折舊。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2F4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ts val="4800"/>
              </a:lnSpc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lnSpc>
                <a:spcPts val="4800"/>
              </a:lnSpc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9748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ts val="2200"/>
              </a:lnSpc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indent="0" marL="0">
              <a:lnSpc>
                <a:spcPts val="22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ts val="3400"/>
              </a:lnSpc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lnSpc>
                <a:spcPts val="3400"/>
              </a:lnSpc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康復療癒酒店整體設計規劃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chemeClr val="bg1"/>
                </a:solidFill>
              </a:rPr>
              <a:t>康復療癒酒店整體設計規劃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9748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chemeClr val="accent4"/>
                </a:solidFill>
              </a:rPr>
              <a:t>住宿・身心放鬆・睡眠管理・營養膳食・自然療癒・健康生活教育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chemeClr val="accent4"/>
                </a:solidFill>
              </a:rPr>
              <a:t>中國大陸 8 間客房示範項目</a:t>
            </a:r>
            <a:endParaRPr lang="en-US" sz="1600" dirty="0"/>
          </a:p>
        </p:txBody>
      </p:sp>
      <p:sp>
        <p:nvSpPr>
          <p:cNvPr id="4" name="Leaf circle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7FA37A"/>
          </a:solidFill>
          <a:ln w="12700">
            <a:solidFill>
              <a:srgbClr val="7FA37A"/>
            </a:solidFill>
            <a:prstDash val="solid"/>
          </a:ln>
        </p:spPr>
      </p:sp>
      <p:pic>
        <p:nvPicPr>
          <p:cNvPr id="5" name="Leaf icon" descr="Lea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70866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chemeClr val="tx2"/>
                </a:solidFill>
              </a:rPr>
              <a:t>核心理念：離店後仍能延續健康生活</a:t>
            </a:r>
            <a:endParaRPr lang="en-US" sz="2800" dirty="0"/>
          </a:p>
        </p:txBody>
      </p:sp>
      <p:sp>
        <p:nvSpPr>
          <p:cNvPr id="3" name="Core card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chemeClr val="bg1"/>
                </a:solidFill>
              </a:rPr>
              <a:t>複合型療癒旅宿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574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chemeClr val="accent4"/>
                </a:solidFill>
              </a:rPr>
              <a:t>不是單純的高級酒店，也不只是按摩、泡湯或 SPA 的度假場所。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66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chemeClr val="accent2"/>
                </a:solidFill>
              </a:rPr>
              <a:t>住得安心・睡得更好・身心放鬆</a:t>
            </a:r>
            <a:endParaRPr lang="en-US" sz="1600" dirty="0"/>
          </a:p>
        </p:txBody>
      </p:sp>
      <p:sp>
        <p:nvSpPr>
          <p:cNvPr id="7" name="Step 1"/>
          <p:cNvSpPr/>
          <p:nvPr/>
        </p:nvSpPr>
        <p:spPr>
          <a:xfrm>
            <a:off x="4754880" y="1234440"/>
            <a:ext cx="548640" cy="548640"/>
          </a:xfrm>
          <a:prstGeom prst="ellipse">
            <a:avLst/>
          </a:prstGeom>
          <a:solidFill>
            <a:srgbClr val="D9E4D5"/>
          </a:solidFill>
          <a:ln w="12700">
            <a:solidFill>
              <a:srgbClr val="D9E4D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1216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先做示範項目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56362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accent5"/>
                </a:solidFill>
              </a:rPr>
              <a:t>規模適中，容易驗證營運模式</a:t>
            </a:r>
            <a:endParaRPr lang="en-US" sz="1300" dirty="0"/>
          </a:p>
        </p:txBody>
      </p:sp>
      <p:sp>
        <p:nvSpPr>
          <p:cNvPr id="11" name="Step 2"/>
          <p:cNvSpPr/>
          <p:nvPr/>
        </p:nvSpPr>
        <p:spPr>
          <a:xfrm>
            <a:off x="4754880" y="2331720"/>
            <a:ext cx="548640" cy="548640"/>
          </a:xfrm>
          <a:prstGeom prst="ellipse">
            <a:avLst/>
          </a:prstGeom>
          <a:solidFill>
            <a:srgbClr val="D9E4D5"/>
          </a:solidFill>
          <a:ln w="12700">
            <a:solidFill>
              <a:srgbClr val="D9E4D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313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非醫療型定位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266090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accent5"/>
                </a:solidFill>
              </a:rPr>
              <a:t>醫療診斷、疾病治療與身心放鬆清楚區分</a:t>
            </a:r>
            <a:endParaRPr lang="en-US" sz="1300" dirty="0"/>
          </a:p>
        </p:txBody>
      </p:sp>
      <p:sp>
        <p:nvSpPr>
          <p:cNvPr id="15" name="Step 3"/>
          <p:cNvSpPr/>
          <p:nvPr/>
        </p:nvSpPr>
        <p:spPr>
          <a:xfrm>
            <a:off x="4754880" y="3429000"/>
            <a:ext cx="548640" cy="548640"/>
          </a:xfrm>
          <a:prstGeom prst="ellipse">
            <a:avLst/>
          </a:prstGeom>
          <a:solidFill>
            <a:srgbClr val="D9E4D5"/>
          </a:solidFill>
          <a:ln w="12700">
            <a:solidFill>
              <a:srgbClr val="D9E4D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34107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依實際需求擴大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375818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accent5"/>
                </a:solidFill>
              </a:rPr>
              <a:t>以入住率、回訪率與現金流決定下一步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chemeClr val="tx2"/>
                </a:solidFill>
              </a:rPr>
              <a:t>品牌定位：靜養・身心療癒酒店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accent5"/>
                </a:solidFill>
              </a:rPr>
              <a:t>以睡眠、減壓、自然環境、節氣飲食與溫和活動為核心（暫定方向）</a:t>
            </a:r>
            <a:endParaRPr lang="en-US" sz="1300" dirty="0"/>
          </a:p>
        </p:txBody>
      </p:sp>
      <p:sp>
        <p:nvSpPr>
          <p:cNvPr id="4" name="Pillar 睡眠療癒"/>
          <p:cNvSpPr/>
          <p:nvPr/>
        </p:nvSpPr>
        <p:spPr>
          <a:xfrm>
            <a:off x="457200" y="14630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5" name="睡眠療癒 circle"/>
          <p:cNvSpPr/>
          <p:nvPr/>
        </p:nvSpPr>
        <p:spPr>
          <a:xfrm>
            <a:off x="685800" y="1737360"/>
            <a:ext cx="685800" cy="685800"/>
          </a:xfrm>
          <a:prstGeom prst="ellipse">
            <a:avLst/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pic>
        <p:nvPicPr>
          <p:cNvPr id="6" name="睡眠療癒 icon" descr="睡眠療癒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9088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chemeClr val="tx2"/>
                </a:solidFill>
              </a:rPr>
              <a:t>睡眠療癒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103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安靜客房、睡眠環境、放鬆儀式、睡眠習慣教育</a:t>
            </a:r>
            <a:endParaRPr lang="en-US" sz="1300" dirty="0"/>
          </a:p>
        </p:txBody>
      </p:sp>
      <p:sp>
        <p:nvSpPr>
          <p:cNvPr id="9" name="Pillar 自然療癒"/>
          <p:cNvSpPr/>
          <p:nvPr/>
        </p:nvSpPr>
        <p:spPr>
          <a:xfrm>
            <a:off x="4663440" y="14630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10" name="自然療癒 circle"/>
          <p:cNvSpPr/>
          <p:nvPr/>
        </p:nvSpPr>
        <p:spPr>
          <a:xfrm>
            <a:off x="4892040" y="1737360"/>
            <a:ext cx="685800" cy="685800"/>
          </a:xfrm>
          <a:prstGeom prst="ellipse">
            <a:avLst/>
          </a:prstGeom>
          <a:solidFill>
            <a:srgbClr val="C07A4F"/>
          </a:solidFill>
          <a:ln w="12700">
            <a:solidFill>
              <a:srgbClr val="C07A4F"/>
            </a:solidFill>
            <a:prstDash val="solid"/>
          </a:ln>
        </p:spPr>
      </p:sp>
      <p:pic>
        <p:nvPicPr>
          <p:cNvPr id="11" name="自然療癒 icon" descr="自然療癒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490" y="190881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6072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chemeClr val="tx2"/>
                </a:solidFill>
              </a:rPr>
              <a:t>自然療癒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760720" y="2103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園林步道、森林漫步、日光活動、呼吸與冥想課程</a:t>
            </a:r>
            <a:endParaRPr lang="en-US" sz="1300" dirty="0"/>
          </a:p>
        </p:txBody>
      </p:sp>
      <p:sp>
        <p:nvSpPr>
          <p:cNvPr id="14" name="Pillar 節氣藥膳與營養飲食"/>
          <p:cNvSpPr/>
          <p:nvPr/>
        </p:nvSpPr>
        <p:spPr>
          <a:xfrm>
            <a:off x="457200" y="30632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15" name="節氣藥膳與營養飲食 circle"/>
          <p:cNvSpPr/>
          <p:nvPr/>
        </p:nvSpPr>
        <p:spPr>
          <a:xfrm>
            <a:off x="685800" y="3337560"/>
            <a:ext cx="685800" cy="685800"/>
          </a:xfrm>
          <a:prstGeom prst="ellipse">
            <a:avLst/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pic>
        <p:nvPicPr>
          <p:cNvPr id="16" name="節氣藥膳與營養飲食 icon" descr="節氣藥膳與營養飲食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350901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chemeClr val="tx2"/>
                </a:solidFill>
              </a:rPr>
              <a:t>節氣藥膳與營養飲食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3703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當季食材、低負擔餐食、草本茶飲、養生饅頭及健康點心</a:t>
            </a:r>
            <a:endParaRPr lang="en-US" sz="1300" dirty="0"/>
          </a:p>
        </p:txBody>
      </p:sp>
      <p:sp>
        <p:nvSpPr>
          <p:cNvPr id="19" name="Pillar 身心調養"/>
          <p:cNvSpPr/>
          <p:nvPr/>
        </p:nvSpPr>
        <p:spPr>
          <a:xfrm>
            <a:off x="4663440" y="30632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20" name="身心調養 circle"/>
          <p:cNvSpPr/>
          <p:nvPr/>
        </p:nvSpPr>
        <p:spPr>
          <a:xfrm>
            <a:off x="4892040" y="3337560"/>
            <a:ext cx="685800" cy="685800"/>
          </a:xfrm>
          <a:prstGeom prst="ellipse">
            <a:avLst/>
          </a:prstGeom>
          <a:solidFill>
            <a:srgbClr val="C07A4F"/>
          </a:solidFill>
          <a:ln w="12700">
            <a:solidFill>
              <a:srgbClr val="C07A4F"/>
            </a:solidFill>
            <a:prstDash val="solid"/>
          </a:ln>
        </p:spPr>
      </p:sp>
      <p:pic>
        <p:nvPicPr>
          <p:cNvPr id="21" name="身心調養 icon" descr="身心調養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490" y="350901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76072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chemeClr val="tx2"/>
                </a:solidFill>
              </a:rPr>
              <a:t>身心調養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5760720" y="3703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伸展、太極、瑜伽、正念及放鬆活動，依能力安排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chemeClr val="tx2"/>
                </a:solidFill>
              </a:rPr>
              <a:t>先劃清界線：療癒旅宿 ≠ 醫療康復</a:t>
            </a:r>
            <a:endParaRPr lang="en-US" sz="2800" dirty="0"/>
          </a:p>
        </p:txBody>
      </p:sp>
      <p:sp>
        <p:nvSpPr>
          <p:cNvPr id="3" name="Wellness column"/>
          <p:cNvSpPr/>
          <p:nvPr/>
        </p:nvSpPr>
        <p:spPr>
          <a:xfrm>
            <a:off x="457200" y="1188720"/>
            <a:ext cx="3977640" cy="3246120"/>
          </a:xfrm>
          <a:prstGeom prst="roundRect">
            <a:avLst>
              <a:gd name="adj" fmla="val 2254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4" name="Allowed circle"/>
          <p:cNvSpPr/>
          <p:nvPr/>
        </p:nvSpPr>
        <p:spPr>
          <a:xfrm>
            <a:off x="731520" y="1417320"/>
            <a:ext cx="548640" cy="548640"/>
          </a:xfrm>
          <a:prstGeom prst="ellipse">
            <a:avLst/>
          </a:prstGeom>
          <a:solidFill>
            <a:srgbClr val="7FA37A"/>
          </a:solidFill>
          <a:ln w="12700">
            <a:solidFill>
              <a:srgbClr val="7FA37A"/>
            </a:solidFill>
            <a:prstDash val="solid"/>
          </a:ln>
        </p:spPr>
      </p:sp>
      <p:pic>
        <p:nvPicPr>
          <p:cNvPr id="5" name="Allowed icon" descr="Allow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chemeClr val="tx2"/>
                </a:solidFill>
              </a:rPr>
              <a:t>一般療癒旅宿可提供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4884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休息、減壓與健康生活體驗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睡眠環境與放鬆儀式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節氣飲食與草本茶飲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溫和身心活動與課程</a:t>
            </a:r>
            <a:endParaRPr lang="en-US" sz="1400" dirty="0"/>
          </a:p>
        </p:txBody>
      </p:sp>
      <p:sp>
        <p:nvSpPr>
          <p:cNvPr id="8" name="Medical column"/>
          <p:cNvSpPr/>
          <p:nvPr/>
        </p:nvSpPr>
        <p:spPr>
          <a:xfrm>
            <a:off x="4709160" y="1188720"/>
            <a:ext cx="3977640" cy="3246120"/>
          </a:xfrm>
          <a:prstGeom prst="roundRect">
            <a:avLst>
              <a:gd name="adj" fmla="val 2254"/>
            </a:avLst>
          </a:prstGeom>
          <a:solidFill>
            <a:srgbClr val="F6EDE7"/>
          </a:solidFill>
          <a:ln w="12700">
            <a:solidFill>
              <a:srgbClr val="F6EDE7"/>
            </a:solidFill>
            <a:prstDash val="solid"/>
          </a:ln>
        </p:spPr>
      </p:sp>
      <p:sp>
        <p:nvSpPr>
          <p:cNvPr id="9" name="Caution circle"/>
          <p:cNvSpPr/>
          <p:nvPr/>
        </p:nvSpPr>
        <p:spPr>
          <a:xfrm>
            <a:off x="4983480" y="1417320"/>
            <a:ext cx="548640" cy="548640"/>
          </a:xfrm>
          <a:prstGeom prst="ellipse">
            <a:avLst/>
          </a:prstGeom>
          <a:solidFill>
            <a:srgbClr val="C07A4F"/>
          </a:solidFill>
          <a:ln w="12700">
            <a:solidFill>
              <a:srgbClr val="C07A4F"/>
            </a:solidFill>
            <a:prstDash val="solid"/>
          </a:ln>
        </p:spPr>
      </p:sp>
      <p:pic>
        <p:nvPicPr>
          <p:cNvPr id="10" name="Caution icon" descr="Cau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544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chemeClr val="accent3"/>
                </a:solidFill>
              </a:rPr>
              <a:t>需另行規劃醫療資質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029200" y="21488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中風後復健、術後康復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神經復健、疾病治療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需專業人員、設備與許可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或與合格醫療機構轉診合作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029200" y="3794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i="1" dirty="0">
                <a:solidFill>
                  <a:schemeClr val="accent3"/>
                </a:solidFill>
              </a:rPr>
              <a:t>不誇大療效，不以治療疾病作行銷承諾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chemeClr val="tx2"/>
                </a:solidFill>
              </a:rPr>
              <a:t>空間規劃：以 8 間客房作為設計樣板</a:t>
            </a:r>
            <a:endParaRPr lang="en-US" sz="2800" dirty="0"/>
          </a:p>
        </p:txBody>
      </p:sp>
      <p:sp>
        <p:nvSpPr>
          <p:cNvPr id="3" name="Room count"/>
          <p:cNvSpPr/>
          <p:nvPr/>
        </p:nvSpPr>
        <p:spPr>
          <a:xfrm>
            <a:off x="457200" y="1188720"/>
            <a:ext cx="2377440" cy="3246120"/>
          </a:xfrm>
          <a:prstGeom prst="roundRect">
            <a:avLst>
              <a:gd name="adj" fmla="val 3077"/>
            </a:avLst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0"/>
              </a:lnSpc>
              <a:buNone/>
            </a:pPr>
            <a:r>
              <a:rPr lang="en-US" sz="7200" b="1" dirty="0">
                <a:solidFill>
                  <a:schemeClr val="bg1"/>
                </a:solidFill>
              </a:rPr>
              <a:t>8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chemeClr val="accent4"/>
                </a:solidFill>
              </a:rPr>
              <a:t>間客房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1089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accent4"/>
                </a:solidFill>
              </a:rPr>
              <a:t>兼顧個人、伴侶、小家庭與團體活動，又不必承擔大型酒店管理成本</a:t>
            </a:r>
            <a:endParaRPr lang="en-US" sz="1200" dirty="0"/>
          </a:p>
        </p:txBody>
      </p:sp>
      <p:sp>
        <p:nvSpPr>
          <p:cNvPr id="7" name="深度休息房 circle"/>
          <p:cNvSpPr/>
          <p:nvPr/>
        </p:nvSpPr>
        <p:spPr>
          <a:xfrm>
            <a:off x="3154680" y="1280160"/>
            <a:ext cx="594360" cy="594360"/>
          </a:xfrm>
          <a:prstGeom prst="ellipse">
            <a:avLst/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pic>
        <p:nvPicPr>
          <p:cNvPr id="8" name="深度休息房 icon" descr="深度休息房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3270" y="1428750"/>
            <a:ext cx="297180" cy="2971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931920" y="1234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深度休息房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931920" y="157276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遮光窗簾、舒適床墊、良好隔音、可調燈光、適當溫濕度與通風——最值得優先投資</a:t>
            </a:r>
            <a:endParaRPr lang="en-US" sz="1300" dirty="0"/>
          </a:p>
        </p:txBody>
      </p:sp>
      <p:sp>
        <p:nvSpPr>
          <p:cNvPr id="11" name="自然療癒房 circle"/>
          <p:cNvSpPr/>
          <p:nvPr/>
        </p:nvSpPr>
        <p:spPr>
          <a:xfrm>
            <a:off x="3154680" y="2377440"/>
            <a:ext cx="594360" cy="594360"/>
          </a:xfrm>
          <a:prstGeom prst="ellipse">
            <a:avLst/>
          </a:prstGeom>
          <a:solidFill>
            <a:srgbClr val="7FA37A"/>
          </a:solidFill>
          <a:ln w="12700">
            <a:solidFill>
              <a:srgbClr val="7FA37A"/>
            </a:solidFill>
            <a:prstDash val="solid"/>
          </a:ln>
        </p:spPr>
      </p:sp>
      <p:pic>
        <p:nvPicPr>
          <p:cNvPr id="12" name="自然療癒房 icon" descr="自然療癒房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270" y="252603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93192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自然療癒房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931920" y="267004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木質、棉麻、自然光與庭院景觀，適合房內閱讀、休息與安靜活動</a:t>
            </a:r>
            <a:endParaRPr lang="en-US" sz="1300" dirty="0"/>
          </a:p>
        </p:txBody>
      </p:sp>
      <p:sp>
        <p:nvSpPr>
          <p:cNvPr id="15" name="友善無障礙房 circle"/>
          <p:cNvSpPr/>
          <p:nvPr/>
        </p:nvSpPr>
        <p:spPr>
          <a:xfrm>
            <a:off x="3154680" y="3474720"/>
            <a:ext cx="594360" cy="594360"/>
          </a:xfrm>
          <a:prstGeom prst="ellipse">
            <a:avLst/>
          </a:prstGeom>
          <a:solidFill>
            <a:srgbClr val="C07A4F"/>
          </a:solidFill>
          <a:ln w="12700">
            <a:solidFill>
              <a:srgbClr val="C07A4F"/>
            </a:solidFill>
            <a:prstDash val="solid"/>
          </a:ln>
        </p:spPr>
      </p:sp>
      <p:pic>
        <p:nvPicPr>
          <p:cNvPr id="16" name="友善無障礙房 icon" descr="友善無障礙房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3270" y="362331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931920" y="3429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友善無障礙房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3931920" y="37673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無門檻動線、扶手、適當床高與易操作衛浴；接待術後或行動不便者需專業評估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chemeClr val="tx2"/>
                </a:solidFill>
              </a:rPr>
              <a:t>四條核心服務線</a:t>
            </a:r>
            <a:endParaRPr lang="en-US" sz="2800" dirty="0"/>
          </a:p>
        </p:txBody>
      </p:sp>
      <p:sp>
        <p:nvSpPr>
          <p:cNvPr id="3" name="Line A"/>
          <p:cNvSpPr/>
          <p:nvPr/>
        </p:nvSpPr>
        <p:spPr>
          <a:xfrm>
            <a:off x="457200" y="118872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D9E4D5"/>
          </a:solidFill>
          <a:ln w="12700">
            <a:solidFill>
              <a:srgbClr val="D9E4D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chemeClr val="tx2"/>
                </a:solidFill>
              </a:rPr>
              <a:t>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睡眠療癒計畫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5176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了解作息偏好、晚間安靜時段、無咖啡因飲品、睡眠日記追蹤</a:t>
            </a:r>
            <a:endParaRPr lang="en-US" sz="1200" dirty="0"/>
          </a:p>
        </p:txBody>
      </p:sp>
      <p:sp>
        <p:nvSpPr>
          <p:cNvPr id="7" name="Line B"/>
          <p:cNvSpPr/>
          <p:nvPr/>
        </p:nvSpPr>
        <p:spPr>
          <a:xfrm>
            <a:off x="2560320" y="118872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1325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chemeClr val="tx2"/>
                </a:solidFill>
              </a:rPr>
              <a:t>B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0116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自然與身心放鬆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65176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晨間散步、溫和伸展、呼吸練習、閱讀與晚間放鬆，自由選擇</a:t>
            </a:r>
            <a:endParaRPr lang="en-US" sz="1200" dirty="0"/>
          </a:p>
        </p:txBody>
      </p:sp>
      <p:sp>
        <p:nvSpPr>
          <p:cNvPr id="11" name="Line C"/>
          <p:cNvSpPr/>
          <p:nvPr/>
        </p:nvSpPr>
        <p:spPr>
          <a:xfrm>
            <a:off x="4663440" y="118872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D9E4D5"/>
          </a:solidFill>
          <a:ln w="12700">
            <a:solidFill>
              <a:srgbClr val="D9E4D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325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chemeClr val="accent3"/>
                </a:solidFill>
              </a:rPr>
              <a:t>C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0116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節氣飲食與養生廚房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65176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二十四節氣菜單；五紅、五黑、茯苓饅頭與無咖啡因茶飲</a:t>
            </a:r>
            <a:endParaRPr lang="en-US" sz="1200" dirty="0"/>
          </a:p>
        </p:txBody>
      </p:sp>
      <p:sp>
        <p:nvSpPr>
          <p:cNvPr id="15" name="Line D"/>
          <p:cNvSpPr/>
          <p:nvPr/>
        </p:nvSpPr>
        <p:spPr>
          <a:xfrm>
            <a:off x="6766560" y="118872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0" y="1325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chemeClr val="tx2"/>
                </a:solidFill>
              </a:rPr>
              <a:t>D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20116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個人化休養旅程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65176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依體力、飲食、作息提供 2 晚、3 晚、5 晚方案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chemeClr val="accent3"/>
                </a:solidFill>
              </a:rPr>
              <a:t>持續失眠、睡眠呼吸中止等問題應建議就醫；藥膳須確認食用安全與當地食品規定，不以餐飲取代治療。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chemeClr val="tx2"/>
                </a:solidFill>
              </a:rPr>
              <a:t>可銷售的療癒住宿方案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accent5"/>
                </a:solidFill>
              </a:rPr>
              <a:t>不只賣「一晚住宿」，而是把住宿、餐食、活動和服務組合成完整體驗</a:t>
            </a:r>
            <a:endParaRPr lang="en-US" sz="1300" dirty="0"/>
          </a:p>
        </p:txBody>
      </p:sp>
      <p:sp>
        <p:nvSpPr>
          <p:cNvPr id="4" name="Package A"/>
          <p:cNvSpPr/>
          <p:nvPr/>
        </p:nvSpPr>
        <p:spPr>
          <a:xfrm>
            <a:off x="457200" y="1371600"/>
            <a:ext cx="2615184" cy="3154680"/>
          </a:xfrm>
          <a:prstGeom prst="roundRect">
            <a:avLst>
              <a:gd name="adj" fmla="val 2797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chemeClr val="accent3"/>
                </a:solidFill>
              </a:rPr>
              <a:t>方案 A｜2 晚 3 日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10512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chemeClr val="tx2"/>
                </a:solidFill>
              </a:rPr>
              <a:t>睡眠休養之旅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31720"/>
            <a:ext cx="21579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2 晚住宿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每日養生早餐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晚間放鬆活動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草本茶飲與睡眠指引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84048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chemeClr val="accent5"/>
                </a:solidFill>
              </a:rPr>
              <a:t>適合：初次體驗、暫離工作壓力</a:t>
            </a:r>
            <a:endParaRPr lang="en-US" sz="1200" dirty="0"/>
          </a:p>
        </p:txBody>
      </p:sp>
      <p:sp>
        <p:nvSpPr>
          <p:cNvPr id="9" name="Package B"/>
          <p:cNvSpPr/>
          <p:nvPr/>
        </p:nvSpPr>
        <p:spPr>
          <a:xfrm>
            <a:off x="3264408" y="1371600"/>
            <a:ext cx="2615184" cy="3154680"/>
          </a:xfrm>
          <a:prstGeom prst="roundRect">
            <a:avLst>
              <a:gd name="adj" fmla="val 2797"/>
            </a:avLst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93008" y="15087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chemeClr val="accent2"/>
                </a:solidFill>
              </a:rPr>
              <a:t>方案 B｜3 晚 4 日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93008" y="1810512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chemeClr val="bg1"/>
                </a:solidFill>
              </a:rPr>
              <a:t>節氣養生之旅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93008" y="2331720"/>
            <a:ext cx="21579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住宿與節氣餐食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五紅、五黑或茯苓點心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自然漫步與溫和活動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節氣飲食體驗課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384048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chemeClr val="accent4"/>
                </a:solidFill>
              </a:rPr>
              <a:t>適合：喜歡養生飲食與慢旅行</a:t>
            </a:r>
            <a:endParaRPr lang="en-US" sz="1200" dirty="0"/>
          </a:p>
        </p:txBody>
      </p:sp>
      <p:sp>
        <p:nvSpPr>
          <p:cNvPr id="14" name="Package C"/>
          <p:cNvSpPr/>
          <p:nvPr/>
        </p:nvSpPr>
        <p:spPr>
          <a:xfrm>
            <a:off x="6071616" y="1371600"/>
            <a:ext cx="2615184" cy="3154680"/>
          </a:xfrm>
          <a:prstGeom prst="roundRect">
            <a:avLst>
              <a:gd name="adj" fmla="val 2797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0216" y="15087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chemeClr val="accent3"/>
                </a:solidFill>
              </a:rPr>
              <a:t>方案 C｜5 晚 6 日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300216" y="1810512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chemeClr val="tx2"/>
                </a:solidFill>
              </a:rPr>
              <a:t>深度身心休養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00216" y="2331720"/>
            <a:ext cx="21579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個人化休養日程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多日營養餐食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多次身心放鬆活動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離店後生活計畫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00216" y="384048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chemeClr val="accent5"/>
                </a:solidFill>
              </a:rPr>
              <a:t>適合：長假期、重視安靜與完整服務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chemeClr val="tx2"/>
                </a:solidFill>
              </a:rPr>
              <a:t>開業成本：三種情境評估</a:t>
            </a:r>
            <a:endParaRPr lang="en-US" sz="2800" dirty="0"/>
          </a:p>
        </p:txBody>
      </p:sp>
      <p:sp>
        <p:nvSpPr>
          <p:cNvPr id="3" name="情境一"/>
          <p:cNvSpPr/>
          <p:nvPr/>
        </p:nvSpPr>
        <p:spPr>
          <a:xfrm>
            <a:off x="457200" y="1143000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chemeClr val="accent2"/>
                </a:solidFill>
              </a:rPr>
              <a:t>情境一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bg1"/>
                </a:solidFill>
              </a:rPr>
              <a:t>現成旅宿改造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25272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bg1"/>
                </a:solidFill>
              </a:rPr>
              <a:t>優先尋找已有合法住宿條件、消防與機電狀況良好的物業，降低大規模改建風險</a:t>
            </a:r>
            <a:endParaRPr lang="en-US" sz="1300" dirty="0"/>
          </a:p>
        </p:txBody>
      </p:sp>
      <p:sp>
        <p:nvSpPr>
          <p:cNvPr id="7" name="Recommended tag"/>
          <p:cNvSpPr/>
          <p:nvPr/>
        </p:nvSpPr>
        <p:spPr>
          <a:xfrm>
            <a:off x="7315200" y="141732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C07A4F"/>
          </a:solidFill>
          <a:ln w="12700">
            <a:solidFill>
              <a:srgbClr val="C07A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0" y="14173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chemeClr val="bg1"/>
                </a:solidFill>
              </a:rPr>
              <a:t>優先評估</a:t>
            </a:r>
            <a:endParaRPr lang="en-US" sz="1200" dirty="0"/>
          </a:p>
        </p:txBody>
      </p:sp>
      <p:sp>
        <p:nvSpPr>
          <p:cNvPr id="9" name="情境二"/>
          <p:cNvSpPr/>
          <p:nvPr/>
        </p:nvSpPr>
        <p:spPr>
          <a:xfrm>
            <a:off x="457200" y="2167128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3042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chemeClr val="accent3"/>
                </a:solidFill>
              </a:rPr>
              <a:t>情境二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578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庭院型療癒民宿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276856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增加庭院、戶外活動區與自然景觀；留意景觀維護、季節性客流與戶外安全</a:t>
            </a:r>
            <a:endParaRPr lang="en-US" sz="1300" dirty="0"/>
          </a:p>
        </p:txBody>
      </p:sp>
      <p:sp>
        <p:nvSpPr>
          <p:cNvPr id="13" name="情境三"/>
          <p:cNvSpPr/>
          <p:nvPr/>
        </p:nvSpPr>
        <p:spPr>
          <a:xfrm>
            <a:off x="457200" y="3191256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3284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chemeClr val="accent3"/>
                </a:solidFill>
              </a:rPr>
              <a:t>情境三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6027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新建康養酒店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3300984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需考慮土地、設計、建築、機電、消防與審批，週期長；需求未驗證前不宜貿然投入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chemeClr val="accent5"/>
                </a:solidFill>
              </a:rPr>
              <a:t>具體人民幣金額須取得城市、物業條件、面積與裝修標準後再估算。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chemeClr val="tx2"/>
                </a:solidFill>
              </a:rPr>
              <a:t>每月損益試算（示例假設）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chemeClr val="tx2"/>
                </a:solidFill>
              </a:rPr>
              <a:t>¥73,440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accent5"/>
                </a:solidFill>
              </a:rPr>
              <a:t>每月住宿營收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65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chemeClr val="tx2"/>
                </a:solidFill>
              </a:rPr>
              <a:t>¥85,440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accent5"/>
                </a:solidFill>
              </a:rPr>
              <a:t>每月總營收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834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chemeClr val="accent3"/>
                </a:solidFill>
              </a:rPr>
              <a:t>¥20,440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337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accent5"/>
                </a:solidFill>
              </a:rPr>
              <a:t>估算營運結餘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703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accent5"/>
                </a:solidFill>
              </a:rPr>
              <a:t>假設：8 間 × ¥680 × 45% × 30 天；其他收入 ¥12,000；營運成本 ¥65,000。尚未含折舊、利息、稅與業主薪酬。損益平衡＝(65,000−12,000)÷163,200。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749040" y="1051560"/>
          <a:ext cx="49377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3749040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accent3"/>
                </a:solidFill>
              </a:rPr>
              <a:t>損益平衡入住率約 32.5%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chemeClr val="tx2"/>
                </a:solidFill>
              </a:rPr>
              <a:t>簽約或裝修前，先向主管部門確認合規</a:t>
            </a:r>
            <a:endParaRPr lang="en-US" sz="2800" dirty="0"/>
          </a:p>
        </p:txBody>
      </p:sp>
      <p:sp>
        <p:nvSpPr>
          <p:cNvPr id="3" name="物業與登記 circle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pic>
        <p:nvPicPr>
          <p:cNvPr id="4" name="物業與登記 icon" descr="物業與登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1360170"/>
            <a:ext cx="251460" cy="2514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188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物業與登記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5361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物業用途、旅宿經營登記或許可要求</a:t>
            </a:r>
            <a:endParaRPr lang="en-US" sz="1300" dirty="0"/>
          </a:p>
        </p:txBody>
      </p:sp>
      <p:sp>
        <p:nvSpPr>
          <p:cNvPr id="7" name="消防與建築 circle"/>
          <p:cNvSpPr/>
          <p:nvPr/>
        </p:nvSpPr>
        <p:spPr>
          <a:xfrm>
            <a:off x="457200" y="2286000"/>
            <a:ext cx="502920" cy="502920"/>
          </a:xfrm>
          <a:prstGeom prst="ellipse">
            <a:avLst/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pic>
        <p:nvPicPr>
          <p:cNvPr id="8" name="消防與建築 icon" descr="消防與建築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" y="2411730"/>
            <a:ext cx="251460" cy="2514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240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消防與建築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25877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消防、疏散、建築安全及無障礙要求</a:t>
            </a:r>
            <a:endParaRPr lang="en-US" sz="1300" dirty="0"/>
          </a:p>
        </p:txBody>
      </p:sp>
      <p:sp>
        <p:nvSpPr>
          <p:cNvPr id="11" name="餐飲許可 circle"/>
          <p:cNvSpPr/>
          <p:nvPr/>
        </p:nvSpPr>
        <p:spPr>
          <a:xfrm>
            <a:off x="457200" y="3337560"/>
            <a:ext cx="502920" cy="502920"/>
          </a:xfrm>
          <a:prstGeom prst="ellipse">
            <a:avLst/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pic>
        <p:nvPicPr>
          <p:cNvPr id="12" name="餐飲許可 icon" descr="餐飲許可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346329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3291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餐飲許可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363931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食品經營許可及從業人員管理</a:t>
            </a:r>
            <a:endParaRPr lang="en-US" sz="1300" dirty="0"/>
          </a:p>
        </p:txBody>
      </p:sp>
      <p:sp>
        <p:nvSpPr>
          <p:cNvPr id="15" name="專項資質 circle"/>
          <p:cNvSpPr/>
          <p:nvPr/>
        </p:nvSpPr>
        <p:spPr>
          <a:xfrm>
            <a:off x="4663440" y="1234440"/>
            <a:ext cx="502920" cy="502920"/>
          </a:xfrm>
          <a:prstGeom prst="ellipse">
            <a:avLst/>
          </a:prstGeom>
          <a:solidFill>
            <a:srgbClr val="C07A4F"/>
          </a:solidFill>
          <a:ln w="12700">
            <a:solidFill>
              <a:srgbClr val="C07A4F"/>
            </a:solidFill>
            <a:prstDash val="solid"/>
          </a:ln>
        </p:spPr>
      </p:sp>
      <p:pic>
        <p:nvPicPr>
          <p:cNvPr id="16" name="專項資質 icon" descr="專項資質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170" y="1360170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349240" y="1188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專項資質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5349240" y="15361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按摩、理療、康復訓練或診療是否需專項資質與醫療機構許可</a:t>
            </a:r>
            <a:endParaRPr lang="en-US" sz="1300" dirty="0"/>
          </a:p>
        </p:txBody>
      </p:sp>
      <p:sp>
        <p:nvSpPr>
          <p:cNvPr id="19" name="宣傳用語 circle"/>
          <p:cNvSpPr/>
          <p:nvPr/>
        </p:nvSpPr>
        <p:spPr>
          <a:xfrm>
            <a:off x="4663440" y="2286000"/>
            <a:ext cx="502920" cy="502920"/>
          </a:xfrm>
          <a:prstGeom prst="ellipse">
            <a:avLst/>
          </a:prstGeom>
          <a:solidFill>
            <a:srgbClr val="C07A4F"/>
          </a:solidFill>
          <a:ln w="12700">
            <a:solidFill>
              <a:srgbClr val="C07A4F"/>
            </a:solidFill>
            <a:prstDash val="solid"/>
          </a:ln>
        </p:spPr>
      </p:sp>
      <p:pic>
        <p:nvPicPr>
          <p:cNvPr id="20" name="宣傳用語 icon" descr="宣傳用語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9170" y="2411730"/>
            <a:ext cx="251460" cy="25146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349240" y="2240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宣傳用語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5349240" y="25877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宣稱治療失眠、抑鬱、疼痛等是否符合法規</a:t>
            </a:r>
            <a:endParaRPr lang="en-US" sz="1300" dirty="0"/>
          </a:p>
        </p:txBody>
      </p:sp>
      <p:sp>
        <p:nvSpPr>
          <p:cNvPr id="23" name="Key reminder"/>
          <p:cNvSpPr/>
          <p:nvPr/>
        </p:nvSpPr>
        <p:spPr>
          <a:xfrm>
            <a:off x="4663440" y="329184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4892040" y="342900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chemeClr val="tx2"/>
                </a:solidFill>
              </a:rPr>
              <a:t>未具備相應資質，不應自行提供診療，也不以治療疾病作為行銷承諾。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chemeClr val="tx2"/>
                </a:solidFill>
              </a:rPr>
              <a:t>建議的開業順序</a:t>
            </a:r>
            <a:endParaRPr lang="en-US" sz="2800" dirty="0"/>
          </a:p>
        </p:txBody>
      </p:sp>
      <p:sp>
        <p:nvSpPr>
          <p:cNvPr id="3" name="Timeline"/>
          <p:cNvSpPr/>
          <p:nvPr/>
        </p:nvSpPr>
        <p:spPr>
          <a:xfrm>
            <a:off x="1234440" y="1691640"/>
            <a:ext cx="6675120" cy="0"/>
          </a:xfrm>
          <a:prstGeom prst="line">
            <a:avLst/>
          </a:prstGeom>
          <a:noFill/>
          <a:ln w="38100">
            <a:solidFill>
              <a:srgbClr val="D9E4D5"/>
            </a:solidFill>
            <a:prstDash val="solid"/>
          </a:ln>
        </p:spPr>
      </p:sp>
      <p:sp>
        <p:nvSpPr>
          <p:cNvPr id="4" name="Phase 1"/>
          <p:cNvSpPr/>
          <p:nvPr/>
        </p:nvSpPr>
        <p:spPr>
          <a:xfrm>
            <a:off x="914400" y="1371600"/>
            <a:ext cx="640080" cy="640080"/>
          </a:xfrm>
          <a:prstGeom prst="ellipse">
            <a:avLst/>
          </a:prstGeom>
          <a:solidFill>
            <a:srgbClr val="2F4A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市場與選址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517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目標客群、競爭旅宿、交通、季節性需求、物業合規</a:t>
            </a:r>
            <a:endParaRPr lang="en-US" sz="1200" dirty="0"/>
          </a:p>
        </p:txBody>
      </p:sp>
      <p:sp>
        <p:nvSpPr>
          <p:cNvPr id="8" name="Phase 2"/>
          <p:cNvSpPr/>
          <p:nvPr/>
        </p:nvSpPr>
        <p:spPr>
          <a:xfrm>
            <a:off x="2583180" y="1371600"/>
            <a:ext cx="640080" cy="640080"/>
          </a:xfrm>
          <a:prstGeom prst="ellipse">
            <a:avLst/>
          </a:prstGeom>
          <a:solidFill>
            <a:srgbClr val="2F4A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831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08026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產品與財務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125980" y="26517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客房、餐飲、課程、套餐；預算、損益平衡與現金流</a:t>
            </a:r>
            <a:endParaRPr lang="en-US" sz="1200" dirty="0"/>
          </a:p>
        </p:txBody>
      </p:sp>
      <p:sp>
        <p:nvSpPr>
          <p:cNvPr id="12" name="Phase 3"/>
          <p:cNvSpPr/>
          <p:nvPr/>
        </p:nvSpPr>
        <p:spPr>
          <a:xfrm>
            <a:off x="4251960" y="1371600"/>
            <a:ext cx="640080" cy="640080"/>
          </a:xfrm>
          <a:prstGeom prst="ellipse">
            <a:avLst/>
          </a:prstGeom>
          <a:solidFill>
            <a:srgbClr val="2F4A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5196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空間與服務設計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26517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客房標準、睡眠設備、廚房、活動室、服務流程</a:t>
            </a:r>
            <a:endParaRPr lang="en-US" sz="1200" dirty="0"/>
          </a:p>
        </p:txBody>
      </p:sp>
      <p:sp>
        <p:nvSpPr>
          <p:cNvPr id="16" name="Phase 4"/>
          <p:cNvSpPr/>
          <p:nvPr/>
        </p:nvSpPr>
        <p:spPr>
          <a:xfrm>
            <a:off x="5920740" y="1371600"/>
            <a:ext cx="640080" cy="640080"/>
          </a:xfrm>
          <a:prstGeom prst="ellipse">
            <a:avLst/>
          </a:prstGeom>
          <a:solidFill>
            <a:srgbClr val="C07A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2074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1782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小規模試營運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63540" y="26517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測試品質、餐食成本、參與率、回饋與營收</a:t>
            </a:r>
            <a:endParaRPr lang="en-US" sz="1200" dirty="0"/>
          </a:p>
        </p:txBody>
      </p:sp>
      <p:sp>
        <p:nvSpPr>
          <p:cNvPr id="20" name="Phase 5"/>
          <p:cNvSpPr/>
          <p:nvPr/>
        </p:nvSpPr>
        <p:spPr>
          <a:xfrm>
            <a:off x="7589520" y="1371600"/>
            <a:ext cx="640080" cy="640080"/>
          </a:xfrm>
          <a:prstGeom prst="ellipse">
            <a:avLst/>
          </a:prstGeom>
          <a:solidFill>
            <a:srgbClr val="2F4A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品牌與擴張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26517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依入住率、回訪率、客單價與現金流決定擴張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i="1" dirty="0">
                <a:solidFill>
                  <a:schemeClr val="accent3"/>
                </a:solidFill>
              </a:rPr>
              <a:t>第 4 階段是關鍵：先用真實營收與客人回饋驗證模式，再投入擴張。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chemeClr val="bg1"/>
                </a:solidFill>
              </a:rPr>
              <a:t>下一步：確定投資方向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9748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chemeClr val="accent4"/>
                </a:solidFill>
              </a:rPr>
              <a:t>確認後可延伸為完整《康復療癒酒店創業規劃書》：品牌命名、平面配置、房型、裝修預算、設備清單、員工編制、節氣藥膳菜單與年度損益。</a:t>
            </a:r>
            <a:endParaRPr lang="en-US" sz="1600" dirty="0"/>
          </a:p>
        </p:txBody>
      </p:sp>
      <p:sp>
        <p:nvSpPr>
          <p:cNvPr id="4" name="Question 1"/>
          <p:cNvSpPr/>
          <p:nvPr/>
        </p:nvSpPr>
        <p:spPr>
          <a:xfrm>
            <a:off x="640080" y="397764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3D5C4A"/>
          </a:solidFill>
          <a:ln w="12700">
            <a:solidFill>
              <a:srgbClr val="3D5C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3977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chemeClr val="bg1"/>
                </a:solidFill>
              </a:rPr>
              <a:t>1 核心經營方向</a:t>
            </a:r>
            <a:endParaRPr lang="en-US" sz="1200" dirty="0"/>
          </a:p>
        </p:txBody>
      </p:sp>
      <p:sp>
        <p:nvSpPr>
          <p:cNvPr id="6" name="Question 2"/>
          <p:cNvSpPr/>
          <p:nvPr/>
        </p:nvSpPr>
        <p:spPr>
          <a:xfrm>
            <a:off x="2651760" y="397764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3D5C4A"/>
          </a:solidFill>
          <a:ln w="12700">
            <a:solidFill>
              <a:srgbClr val="3D5C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61488" y="3977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chemeClr val="bg1"/>
                </a:solidFill>
              </a:rPr>
              <a:t>2 預計地點</a:t>
            </a:r>
            <a:endParaRPr lang="en-US" sz="1200" dirty="0"/>
          </a:p>
        </p:txBody>
      </p:sp>
      <p:sp>
        <p:nvSpPr>
          <p:cNvPr id="8" name="Question 3"/>
          <p:cNvSpPr/>
          <p:nvPr/>
        </p:nvSpPr>
        <p:spPr>
          <a:xfrm>
            <a:off x="4663440" y="397764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3D5C4A"/>
          </a:solidFill>
          <a:ln w="12700">
            <a:solidFill>
              <a:srgbClr val="3D5C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73168" y="3977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chemeClr val="bg1"/>
                </a:solidFill>
              </a:rPr>
              <a:t>3 預計規模</a:t>
            </a:r>
            <a:endParaRPr lang="en-US" sz="1200" dirty="0"/>
          </a:p>
        </p:txBody>
      </p:sp>
      <p:sp>
        <p:nvSpPr>
          <p:cNvPr id="10" name="Question 4"/>
          <p:cNvSpPr/>
          <p:nvPr/>
        </p:nvSpPr>
        <p:spPr>
          <a:xfrm>
            <a:off x="6675120" y="397764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3D5C4A"/>
          </a:solidFill>
          <a:ln w="12700">
            <a:solidFill>
              <a:srgbClr val="3D5C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84848" y="3977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chemeClr val="bg1"/>
                </a:solidFill>
              </a:rPr>
              <a:t>4 投資預算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aling Retreat">
  <a:themeElements>
    <a:clrScheme name="Healing Retreat">
      <a:dk1>
        <a:srgbClr val="1F2A24"/>
      </a:dk1>
      <a:lt1>
        <a:srgbClr val="FFFFFF"/>
      </a:lt1>
      <a:dk2>
        <a:srgbClr val="2F4A3A"/>
      </a:dk2>
      <a:lt2>
        <a:srgbClr val="EEF3EC"/>
      </a:lt2>
      <a:accent1>
        <a:srgbClr val="2F4A3A"/>
      </a:accent1>
      <a:accent2>
        <a:srgbClr val="7FA37A"/>
      </a:accent2>
      <a:accent3>
        <a:srgbClr val="C07A4F"/>
      </a:accent3>
      <a:accent4>
        <a:srgbClr val="D9E4D5"/>
      </a:accent4>
      <a:accent5>
        <a:srgbClr val="5E6B63"/>
      </a:accent5>
      <a:accent6>
        <a:srgbClr val="B23A3A"/>
      </a:accent6>
      <a:hlink>
        <a:srgbClr val="2F4A3A"/>
      </a:hlink>
      <a:folHlink>
        <a:srgbClr val="5E6B63"/>
      </a:folHlink>
    </a:clrScheme>
    <a:fontScheme name="Healing Retreat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康復療癒酒店整體設計規劃</dc:title>
  <dc:subject>PptxGenJS Presentation</dc:subject>
  <dc:creator>PptxGenJS</dc:creator>
  <cp:lastModifiedBy>PptxGenJS</cp:lastModifiedBy>
  <cp:revision>1</cp:revision>
  <dcterms:created xsi:type="dcterms:W3CDTF">2026-10-19T15:05:59Z</dcterms:created>
  <dcterms:modified xsi:type="dcterms:W3CDTF">2026-10-19T15:05:59Z</dcterms:modified>
</cp:coreProperties>
</file>