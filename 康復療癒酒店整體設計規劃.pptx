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0ba1133d-91eb-56f3-3d33-2a40bc0ced2c}">
          <p14:sldIdLst>
            <p14:sldId id="256"/>
          </p14:sldIdLst>
        </p14:section>
        <p14:section name="定位" id="{63f7e2eb-385f-2d54-6446-e2e9e8baf684}">
          <p14:sldIdLst>
            <p14:sldId id="257"/>
            <p14:sldId id="258"/>
            <p14:sldId id="259"/>
          </p14:sldIdLst>
        </p14:section>
        <p14:section name="空間與服務" id="{d6c34bc1-a631-58f5-fb32-1ed5c7ad8537}">
          <p14:sldIdLst>
            <p14:sldId id="260"/>
            <p14:sldId id="261"/>
          </p14:sldIdLst>
        </p14:section>
        <p14:section name="產品" id="{64917ddb-5a83-b56e-d2e7-2deb8fc63aa8}">
          <p14:sldIdLst>
            <p14:sldId id="262"/>
          </p14:sldIdLst>
        </p14:section>
        <p14:section name="財務" id="{665bac64-5d34-c83d-ab11-cd6c904afcd7}">
          <p14:sldIdLst>
            <p14:sldId id="263"/>
            <p14:sldId id="264"/>
          </p14:sldIdLst>
        </p14:section>
        <p14:section name="合規與執行" id="{8846c3eb-df37-224c-c5f1-730cef20aab0}">
          <p14:sldIdLst>
            <p14:sldId id="265"/>
            <p14:sldId id="266"/>
          </p14:sldIdLst>
        </p14:section>
        <p14:section name="下一步" id="{af6167ed-0942-e42c-4d1b-4fcf353fc35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F4A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F4A3A"/>
                </a:solidFill>
                <a:latin typeface="+mn-lt"/>
              </a:rPr>
              <a:t>入住率 vs 每月營運結餘（人民幣）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每月營運結餘</c:v>
                </c:pt>
              </c:strCache>
            </c:strRef>
          </c:tx>
          <c:spPr>
            <a:solidFill>
              <a:srgbClr val="7F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7A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FA3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3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FA3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FA3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30%</c:v>
                  </c:pt>
                  <c:pt idx="1">
                    <c:v>40%</c:v>
                  </c:pt>
                  <c:pt idx="2">
                    <c:v>45%</c:v>
                  </c:pt>
                  <c:pt idx="3">
                    <c:v>55%</c:v>
                  </c:pt>
                  <c:pt idx="4">
                    <c:v>65%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-4040</c:v>
                </c:pt>
                <c:pt idx="1">
                  <c:v>12280</c:v>
                </c:pt>
                <c:pt idx="2">
                  <c:v>20440</c:v>
                </c:pt>
                <c:pt idx="3">
                  <c:v>36760</c:v>
                </c:pt>
                <c:pt idx="4">
                  <c:v>53080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本簡報整理康復療癒酒店的定位、空間、服務、產品、成本、損益、合規與開業順序。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此模型用途是找出損益平衡入住率，而非追求高房價。投資前應再加入淡旺季、平台佣金、食材成本、員工配置、租金及設備折舊。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康復療癒酒店整體設計規劃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康復療癒酒店整體設計規劃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中國大陸 8 間客房示範項目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以睡眠品質、壓力舒緩、自然環境、節氣飲食及溫和身體活動為核心（暫定方向，可依地點與規模調整）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空間規劃：以 8 間客房作為設計樣板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8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兼顧個人、伴侶、小家庭與團體活動，又不必承擔大型酒店管理成本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可銷售的療癒住宿方案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不只賣「一晚住宿」，而是把住宿、餐食、活動和服務組合成完整體驗</a:t>
            </a:r>
            <a:endParaRPr lang="en-US" sz="1300" dirty="0"/>
          </a:p>
        </p:txBody>
      </p:sp>
      <p:sp>
        <p:nvSpPr>
          <p:cNvPr id="4" name="Package A"/>
          <p:cNvSpPr/>
          <p:nvPr/>
        </p:nvSpPr>
        <p:spPr>
          <a:xfrm>
            <a:off x="457200" y="1371600"/>
            <a:ext cx="2615184" cy="3154680"/>
          </a:xfrm>
          <a:prstGeom prst="roundRect">
            <a:avLst>
              <a:gd name="adj" fmla="val 279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方案 A｜2 晚 3 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105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睡眠休養之旅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157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 晚住宿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每日養生早餐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晚間放鬆活動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草本茶飲與睡眠指引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適合：初次體驗、暫離工作壓力</a:t>
            </a:r>
            <a:endParaRPr lang="en-US" sz="1200" dirty="0"/>
          </a:p>
        </p:txBody>
      </p:sp>
      <p:sp>
        <p:nvSpPr>
          <p:cNvPr id="9" name="Package B"/>
          <p:cNvSpPr/>
          <p:nvPr/>
        </p:nvSpPr>
        <p:spPr>
          <a:xfrm>
            <a:off x="3264408" y="1371600"/>
            <a:ext cx="2615184" cy="3154680"/>
          </a:xfrm>
          <a:prstGeom prst="roundRect">
            <a:avLst>
              <a:gd name="adj" fmla="val 279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93008" y="150876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方案 B｜3 晚 4 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18105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節氣養生之旅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331720"/>
            <a:ext cx="2157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住宿與節氣餐食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五紅、五黑或茯苓點心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自然漫步與溫和活動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節氣飲食體驗課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適合：喜歡養生飲食與慢旅行</a:t>
            </a:r>
            <a:endParaRPr lang="en-US" sz="1200" dirty="0"/>
          </a:p>
        </p:txBody>
      </p:sp>
      <p:sp>
        <p:nvSpPr>
          <p:cNvPr id="14" name="Package C"/>
          <p:cNvSpPr/>
          <p:nvPr/>
        </p:nvSpPr>
        <p:spPr>
          <a:xfrm>
            <a:off x="6071616" y="1371600"/>
            <a:ext cx="2615184" cy="3154680"/>
          </a:xfrm>
          <a:prstGeom prst="roundRect">
            <a:avLst>
              <a:gd name="adj" fmla="val 279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0216" y="150876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方案 C｜5 晚 6 日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0216" y="1810512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深度身心休養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2331720"/>
            <a:ext cx="2157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個人化休養日程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多日營養餐食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多次身心放鬆活動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離店後生活計畫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84048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適合：長假期、重視安靜與完整服務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開業成本：三種情境評估</a:t>
            </a:r>
            <a:endParaRPr lang="en-US" sz="2800" dirty="0"/>
          </a:p>
        </p:txBody>
      </p:sp>
      <p:sp>
        <p:nvSpPr>
          <p:cNvPr id="3" name="情境一"/>
          <p:cNvSpPr/>
          <p:nvPr/>
        </p:nvSpPr>
        <p:spPr>
          <a:xfrm>
            <a:off x="457200" y="114300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情境一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現成旅宿改造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25272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優先尋找已有合法住宿條件、消防與機電狀況良好的物業，降低大規模改建風險</a:t>
            </a:r>
            <a:endParaRPr lang="en-US" sz="1300" dirty="0"/>
          </a:p>
        </p:txBody>
      </p:sp>
      <p:sp>
        <p:nvSpPr>
          <p:cNvPr id="7" name="Recommended tag"/>
          <p:cNvSpPr/>
          <p:nvPr/>
        </p:nvSpPr>
        <p:spPr>
          <a:xfrm>
            <a:off x="7315200" y="14173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0" y="1417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優先評估</a:t>
            </a:r>
            <a:endParaRPr lang="en-US" sz="1200" dirty="0"/>
          </a:p>
        </p:txBody>
      </p:sp>
      <p:sp>
        <p:nvSpPr>
          <p:cNvPr id="9" name="情境二"/>
          <p:cNvSpPr/>
          <p:nvPr/>
        </p:nvSpPr>
        <p:spPr>
          <a:xfrm>
            <a:off x="457200" y="21671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情境二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786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庭院型療癒民宿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276856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增加庭院、戶外活動區與自然景觀；留意景觀維護、季節性客流與戶外安全</a:t>
            </a:r>
            <a:endParaRPr lang="en-US" sz="1300" dirty="0"/>
          </a:p>
        </p:txBody>
      </p:sp>
      <p:sp>
        <p:nvSpPr>
          <p:cNvPr id="13" name="情境三"/>
          <p:cNvSpPr/>
          <p:nvPr/>
        </p:nvSpPr>
        <p:spPr>
          <a:xfrm>
            <a:off x="457200" y="31912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284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情境三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602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新建康養酒店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300984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需考慮土地、設計、建築、機電、消防與審批，週期長；需求未驗證前不宜貿然投入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具體人民幣金額須取得城市、物業條件、面積與裝修標準後再估算。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每月損益試算（示例假設）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¥73,440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每月住宿營收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¥85,440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每月總營收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¥20,440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估算營運結餘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假設：8 間 × ¥680 × 45% × 30 天；其他收入 ¥12,000；營運成本 ¥65,000。尚未含折舊、利息、稅與業主薪酬。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749040" y="105156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74904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損益平衡入住率約 32.5%（(65,000 − 12,000) ÷ 163,200）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簽約或裝修前，先向主管部門確認合規</a:t>
            </a:r>
            <a:endParaRPr lang="en-US" sz="2800" dirty="0"/>
          </a:p>
        </p:txBody>
      </p:sp>
      <p:sp>
        <p:nvSpPr>
          <p:cNvPr id="3" name="物業與登記 circle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物業與登記 icon" descr="物業與登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360170"/>
            <a:ext cx="251460" cy="251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物業與登記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36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物業用途、旅宿經營登記或許可要求</a:t>
            </a:r>
            <a:endParaRPr lang="en-US" sz="1300" dirty="0"/>
          </a:p>
        </p:txBody>
      </p:sp>
      <p:sp>
        <p:nvSpPr>
          <p:cNvPr id="7" name="消防與建築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消防與建築 icon" descr="消防與建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240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消防與建築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消防、疏散、建築安全及無障礙要求</a:t>
            </a:r>
            <a:endParaRPr lang="en-US" sz="1300" dirty="0"/>
          </a:p>
        </p:txBody>
      </p:sp>
      <p:sp>
        <p:nvSpPr>
          <p:cNvPr id="11" name="餐飲許可 circle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2" name="餐飲許可 icon" descr="餐飲許可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46329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餐飲許可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6393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食品經營許可及從業人員管理</a:t>
            </a:r>
            <a:endParaRPr lang="en-US" sz="1300" dirty="0"/>
          </a:p>
        </p:txBody>
      </p:sp>
      <p:sp>
        <p:nvSpPr>
          <p:cNvPr id="15" name="專項資質 circle"/>
          <p:cNvSpPr/>
          <p:nvPr/>
        </p:nvSpPr>
        <p:spPr>
          <a:xfrm>
            <a:off x="4663440" y="1234440"/>
            <a:ext cx="502920" cy="50292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專項資質 icon" descr="專項資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170" y="1360170"/>
            <a:ext cx="251460" cy="2514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49240" y="1188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專項資質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5349240" y="1536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按摩、理療、康復訓練或診療是否需專項資質與醫療機構許可</a:t>
            </a:r>
            <a:endParaRPr lang="en-US" sz="1300" dirty="0"/>
          </a:p>
        </p:txBody>
      </p:sp>
      <p:sp>
        <p:nvSpPr>
          <p:cNvPr id="19" name="宣傳用語 circle"/>
          <p:cNvSpPr/>
          <p:nvPr/>
        </p:nvSpPr>
        <p:spPr>
          <a:xfrm>
            <a:off x="4663440" y="2286000"/>
            <a:ext cx="502920" cy="50292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宣傳用語 icon" descr="宣傳用語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170" y="2411730"/>
            <a:ext cx="251460" cy="2514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49240" y="2240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宣傳用語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5349240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宣稱治療失眠、抑鬱、疼痛等是否符合法規</a:t>
            </a:r>
            <a:endParaRPr lang="en-US" sz="1300" dirty="0"/>
          </a:p>
        </p:txBody>
      </p:sp>
      <p:sp>
        <p:nvSpPr>
          <p:cNvPr id="23" name="Key reminder"/>
          <p:cNvSpPr/>
          <p:nvPr/>
        </p:nvSpPr>
        <p:spPr>
          <a:xfrm>
            <a:off x="4663440" y="32918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4892040" y="34290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未具備相應資質，不應自行提供診療，也不以治療疾病作為行銷承諾。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建議的開業順序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1234440" y="1691640"/>
            <a:ext cx="6675120" cy="0"/>
          </a:xfrm>
          <a:prstGeom prst="line">
            <a:avLst/>
          </a:prstGeom>
          <a:noFill/>
          <a:ln w="38100">
            <a:solidFill>
              <a:srgbClr val="D9E4D5"/>
            </a:solidFill>
            <a:prstDash val="solid"/>
          </a:ln>
        </p:spPr>
      </p:sp>
      <p:sp>
        <p:nvSpPr>
          <p:cNvPr id="4" name="Phase 1"/>
          <p:cNvSpPr/>
          <p:nvPr/>
        </p:nvSpPr>
        <p:spPr>
          <a:xfrm>
            <a:off x="914400" y="1371600"/>
            <a:ext cx="640080" cy="640080"/>
          </a:xfrm>
          <a:prstGeom prst="ellipse">
            <a:avLst/>
          </a:prstGeom>
          <a:solidFill>
            <a:srgbClr val="2F4A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市場與選址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目標客群、競爭旅宿、交通、季節性需求、物業合規</a:t>
            </a:r>
            <a:endParaRPr lang="en-US" sz="1200" dirty="0"/>
          </a:p>
        </p:txBody>
      </p:sp>
      <p:sp>
        <p:nvSpPr>
          <p:cNvPr id="8" name="Phase 2"/>
          <p:cNvSpPr/>
          <p:nvPr/>
        </p:nvSpPr>
        <p:spPr>
          <a:xfrm>
            <a:off x="2583180" y="1371600"/>
            <a:ext cx="640080" cy="640080"/>
          </a:xfrm>
          <a:prstGeom prst="ellipse">
            <a:avLst/>
          </a:prstGeom>
          <a:solidFill>
            <a:srgbClr val="2F4A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31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08026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產品與財務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25980" y="26517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客房、餐飲、課程、套餐；預算、損益平衡與現金流</a:t>
            </a:r>
            <a:endParaRPr lang="en-US" sz="1200" dirty="0"/>
          </a:p>
        </p:txBody>
      </p:sp>
      <p:sp>
        <p:nvSpPr>
          <p:cNvPr id="12" name="Phase 3"/>
          <p:cNvSpPr/>
          <p:nvPr/>
        </p:nvSpPr>
        <p:spPr>
          <a:xfrm>
            <a:off x="4251960" y="1371600"/>
            <a:ext cx="640080" cy="640080"/>
          </a:xfrm>
          <a:prstGeom prst="ellipse">
            <a:avLst/>
          </a:prstGeom>
          <a:solidFill>
            <a:srgbClr val="2F4A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5196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空間與服務設計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6517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客房標準、睡眠設備、廚房、活動室、服務流程</a:t>
            </a:r>
            <a:endParaRPr lang="en-US" sz="1200" dirty="0"/>
          </a:p>
        </p:txBody>
      </p:sp>
      <p:sp>
        <p:nvSpPr>
          <p:cNvPr id="16" name="Phase 4"/>
          <p:cNvSpPr/>
          <p:nvPr/>
        </p:nvSpPr>
        <p:spPr>
          <a:xfrm>
            <a:off x="5920740" y="1371600"/>
            <a:ext cx="640080" cy="640080"/>
          </a:xfrm>
          <a:prstGeom prst="ellipse">
            <a:avLst/>
          </a:prstGeom>
          <a:solidFill>
            <a:srgbClr val="C07A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2074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1782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小規模試營運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63540" y="26517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測試品質、餐食成本、參與率、回饋與營收</a:t>
            </a:r>
            <a:endParaRPr lang="en-US" sz="1200" dirty="0"/>
          </a:p>
        </p:txBody>
      </p:sp>
      <p:sp>
        <p:nvSpPr>
          <p:cNvPr id="20" name="Phase 5"/>
          <p:cNvSpPr/>
          <p:nvPr/>
        </p:nvSpPr>
        <p:spPr>
          <a:xfrm>
            <a:off x="7589520" y="1371600"/>
            <a:ext cx="640080" cy="640080"/>
          </a:xfrm>
          <a:prstGeom prst="ellipse">
            <a:avLst/>
          </a:prstGeom>
          <a:solidFill>
            <a:srgbClr val="2F4A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品牌與擴張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26517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依入住率、回訪率、客單價與現金流決定擴張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第 4 階段是關鍵：先用真實營收與客人回饋驗證模式，再投入擴張。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下一步：確定投資方向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確認後可延伸為完整《康復療癒酒店創業規劃書》：品牌命名、平面配置、房型、裝修預算、設備清單、員工編制、節氣藥膳菜單與年度損益。</a:t>
            </a:r>
            <a:endParaRPr lang="en-US" sz="1600" dirty="0"/>
          </a:p>
        </p:txBody>
      </p:sp>
      <p:sp>
        <p:nvSpPr>
          <p:cNvPr id="4" name="Question 1"/>
          <p:cNvSpPr/>
          <p:nvPr/>
        </p:nvSpPr>
        <p:spPr>
          <a:xfrm>
            <a:off x="640080" y="39776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39776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核心經營方向</a:t>
            </a:r>
            <a:endParaRPr lang="en-US" sz="1200" dirty="0"/>
          </a:p>
        </p:txBody>
      </p:sp>
      <p:sp>
        <p:nvSpPr>
          <p:cNvPr id="6" name="Question 2"/>
          <p:cNvSpPr/>
          <p:nvPr/>
        </p:nvSpPr>
        <p:spPr>
          <a:xfrm>
            <a:off x="2651760" y="39776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61488" y="39776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預計地點</a:t>
            </a:r>
            <a:endParaRPr lang="en-US" sz="1200" dirty="0"/>
          </a:p>
        </p:txBody>
      </p:sp>
      <p:sp>
        <p:nvSpPr>
          <p:cNvPr id="8" name="Question 3"/>
          <p:cNvSpPr/>
          <p:nvPr/>
        </p:nvSpPr>
        <p:spPr>
          <a:xfrm>
            <a:off x="4663440" y="39776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73168" y="39776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預計規模</a:t>
            </a:r>
            <a:endParaRPr lang="en-US" sz="1200" dirty="0"/>
          </a:p>
        </p:txBody>
      </p:sp>
      <p:sp>
        <p:nvSpPr>
          <p:cNvPr id="10" name="Question 4"/>
          <p:cNvSpPr/>
          <p:nvPr/>
        </p:nvSpPr>
        <p:spPr>
          <a:xfrm>
            <a:off x="6675120" y="39776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84848" y="39776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投資預算（人民幣）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康復療癒酒店整體設計規劃</dc:title>
  <dc:subject>PptxGenJS Presentation</dc:subject>
  <dc:creator>PptxGenJS</dc:creator>
  <cp:lastModifiedBy>PptxGenJS</cp:lastModifiedBy>
  <cp:revision>1</cp:revision>
  <dcterms:created xsi:type="dcterms:W3CDTF">2026-10-19T15:00:48Z</dcterms:created>
  <dcterms:modified xsi:type="dcterms:W3CDTF">2026-10-19T15:00:48Z</dcterms:modified>
</cp:coreProperties>
</file>