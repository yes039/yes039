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19ebd3fd-42c0-6813-a766-ee0ad19a846f}">
          <p14:sldIdLst>
            <p14:sldId id="256"/>
          </p14:sldIdLst>
        </p14:section>
        <p14:section name="定位" id="{21a29f4a-f7a6-dfba-b75e-673799c59abc}">
          <p14:sldIdLst>
            <p14:sldId id="257"/>
            <p14:sldId id="258"/>
            <p14:sldId id="259"/>
          </p14:sldIdLst>
        </p14:section>
        <p14:section name="空間與服務" id="{1ae55e7f-3923-4816-5d63-a5a842e8069a}">
          <p14:sldIdLst>
            <p14:sldId id="260"/>
            <p14:sldId id="261"/>
          </p14:sldIdLst>
        </p14:section>
        <p14:section name="品牌與客群" id="{f3afe440-8736-1f84-260a-f4bdbb7fcc14}">
          <p14:sldIdLst>
            <p14:sldId id="262"/>
            <p14:sldId id="263"/>
          </p14:sldIdLst>
        </p14:section>
        <p14:section name="療程設計" id="{39f2ab65-8b62-23c6-8710-22e5b1ff4f51}">
          <p14:sldIdLst>
            <p14:sldId id="264"/>
            <p14:sldId id="265"/>
            <p14:sldId id="266"/>
            <p14:sldId id="267"/>
            <p14:sldId id="268"/>
          </p14:sldIdLst>
        </p14:section>
        <p14:section name="合作價值" id="{e3153c8d-4bc9-c8e8-f79f-7f9ba8c3baa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「雲水歸心」專案：本提案整理康復療癒酒店的定位、空間、服務、品牌、客群、十大療癒模組、山海湖三境、辟穀、個人化流程與五天四夜行程。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面積應依建築現況、消防疏散、無障礙需求及餐飲規模核定，不宜只依房間數決定。客房不需要塞滿儀器：安靜、清潔、睡眠舒適度、氣味控制和服務品質更重要。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2F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4800"/>
              </a:lnSpc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ts val="4800"/>
              </a:lnSpc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200"/>
              </a:lnSpc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lnSpc>
                <a:spcPts val="22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3400"/>
              </a:lnSpc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lnSpc>
                <a:spcPts val="3400"/>
              </a:lnSpc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雲水歸心｜康復療癒酒店整體設計規劃｜規劃設計：陳博士康養團隊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spc="800" kern="0" dirty="0">
                <a:solidFill>
                  <a:schemeClr val="bg1"/>
                </a:solidFill>
              </a:rPr>
              <a:t>雲水歸心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spc="600" kern="0" dirty="0">
                <a:solidFill>
                  <a:schemeClr val="accent2"/>
                </a:solidFill>
              </a:rPr>
              <a:t>境養・歸心・煥生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康復療癒酒店整體設計規劃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chemeClr val="accent4"/>
                </a:solidFill>
              </a:rPr>
              <a:t>住宿・身心放鬆・睡眠管理・營養膳食・自然療癒・健康生活教育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chemeClr val="accent4"/>
                </a:solidFill>
              </a:rPr>
              <a:t>飯店合作提案｜規劃設計：陳博士康養團隊</a:t>
            </a:r>
            <a:endParaRPr lang="en-US" sz="1600" dirty="0"/>
          </a:p>
        </p:txBody>
      </p:sp>
      <p:sp>
        <p:nvSpPr>
          <p:cNvPr id="4" name="Leaf circle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7FA37A"/>
          </a:solidFill>
          <a:ln w="12700">
            <a:solidFill>
              <a:srgbClr val="7FA37A"/>
            </a:solidFill>
            <a:prstDash val="solid"/>
          </a:ln>
        </p:spPr>
      </p:sp>
      <p:pic>
        <p:nvPicPr>
          <p:cNvPr id="5" name="Leaf icon" descr="Lea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70866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核心理念：離店後仍能延續健康生活</a:t>
            </a:r>
            <a:endParaRPr lang="en-US" sz="2800" dirty="0"/>
          </a:p>
        </p:txBody>
      </p:sp>
      <p:sp>
        <p:nvSpPr>
          <p:cNvPr id="3" name="Core 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複合型療癒旅宿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chemeClr val="accent4"/>
                </a:solidFill>
              </a:rPr>
              <a:t>不是單純的高級酒店，也不只是按摩、泡湯或 SPA 的度假場所。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住得安心・睡得更好・身心放鬆</a:t>
            </a:r>
            <a:endParaRPr lang="en-US" sz="1600" dirty="0"/>
          </a:p>
        </p:txBody>
      </p:sp>
      <p:sp>
        <p:nvSpPr>
          <p:cNvPr id="7" name="Step 1"/>
          <p:cNvSpPr/>
          <p:nvPr/>
        </p:nvSpPr>
        <p:spPr>
          <a:xfrm>
            <a:off x="4754880" y="1234440"/>
            <a:ext cx="548640" cy="548640"/>
          </a:xfrm>
          <a:prstGeom prst="ellipse">
            <a:avLst/>
          </a:prstGeom>
          <a:solidFill>
            <a:srgbClr val="D9E4D5"/>
          </a:solidFill>
          <a:ln w="12700">
            <a:solidFill>
              <a:srgbClr val="D9E4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216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先做示範項目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5636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規模適中，容易驗證營運模式</a:t>
            </a:r>
            <a:endParaRPr lang="en-US" sz="1300" dirty="0"/>
          </a:p>
        </p:txBody>
      </p:sp>
      <p:sp>
        <p:nvSpPr>
          <p:cNvPr id="11" name="Step 2"/>
          <p:cNvSpPr/>
          <p:nvPr/>
        </p:nvSpPr>
        <p:spPr>
          <a:xfrm>
            <a:off x="4754880" y="2331720"/>
            <a:ext cx="548640" cy="548640"/>
          </a:xfrm>
          <a:prstGeom prst="ellipse">
            <a:avLst/>
          </a:prstGeom>
          <a:solidFill>
            <a:srgbClr val="D9E4D5"/>
          </a:solidFill>
          <a:ln w="12700">
            <a:solidFill>
              <a:srgbClr val="D9E4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非醫療型定位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6609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醫療診斷、疾病治療與身心放鬆清楚區分</a:t>
            </a:r>
            <a:endParaRPr lang="en-US" sz="1300" dirty="0"/>
          </a:p>
        </p:txBody>
      </p:sp>
      <p:sp>
        <p:nvSpPr>
          <p:cNvPr id="15" name="Step 3"/>
          <p:cNvSpPr/>
          <p:nvPr/>
        </p:nvSpPr>
        <p:spPr>
          <a:xfrm>
            <a:off x="4754880" y="3429000"/>
            <a:ext cx="548640" cy="548640"/>
          </a:xfrm>
          <a:prstGeom prst="ellipse">
            <a:avLst/>
          </a:prstGeom>
          <a:solidFill>
            <a:srgbClr val="D9E4D5"/>
          </a:solidFill>
          <a:ln w="12700">
            <a:solidFill>
              <a:srgbClr val="D9E4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410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依實際需求擴大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7581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以入住率、回訪率與現金流決定下一步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品牌定位：靜養・身心療癒酒店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以睡眠、減壓、自然環境、節氣飲食與溫和活動為核心（暫定方向）</a:t>
            </a:r>
            <a:endParaRPr lang="en-US" sz="1300" dirty="0"/>
          </a:p>
        </p:txBody>
      </p:sp>
      <p:sp>
        <p:nvSpPr>
          <p:cNvPr id="4" name="Pillar 睡眠療癒"/>
          <p:cNvSpPr/>
          <p:nvPr/>
        </p:nvSpPr>
        <p:spPr>
          <a:xfrm>
            <a:off x="45720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5" name="睡眠療癒 circle"/>
          <p:cNvSpPr/>
          <p:nvPr/>
        </p:nvSpPr>
        <p:spPr>
          <a:xfrm>
            <a:off x="685800" y="1737360"/>
            <a:ext cx="685800" cy="68580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6" name="睡眠療癒 icon" descr="睡眠療癒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chemeClr val="tx2"/>
                </a:solidFill>
              </a:rPr>
              <a:t>睡眠療癒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安靜客房、睡眠環境、放鬆儀式、睡眠習慣教育</a:t>
            </a:r>
            <a:endParaRPr lang="en-US" sz="1300" dirty="0"/>
          </a:p>
        </p:txBody>
      </p:sp>
      <p:sp>
        <p:nvSpPr>
          <p:cNvPr id="9" name="Pillar 自然療癒"/>
          <p:cNvSpPr/>
          <p:nvPr/>
        </p:nvSpPr>
        <p:spPr>
          <a:xfrm>
            <a:off x="466344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0" name="自然療癒 circle"/>
          <p:cNvSpPr/>
          <p:nvPr/>
        </p:nvSpPr>
        <p:spPr>
          <a:xfrm>
            <a:off x="4892040" y="1737360"/>
            <a:ext cx="685800" cy="68580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11" name="自然療癒 icon" descr="自然療癒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chemeClr val="tx2"/>
                </a:solidFill>
              </a:rPr>
              <a:t>自然療癒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園林步道、森林漫步、日光活動、呼吸與冥想課程</a:t>
            </a:r>
            <a:endParaRPr lang="en-US" sz="1300" dirty="0"/>
          </a:p>
        </p:txBody>
      </p:sp>
      <p:sp>
        <p:nvSpPr>
          <p:cNvPr id="14" name="Pillar 節氣藥膳與營養飲食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5" name="節氣藥膳與營養飲食 circle"/>
          <p:cNvSpPr/>
          <p:nvPr/>
        </p:nvSpPr>
        <p:spPr>
          <a:xfrm>
            <a:off x="685800" y="3337560"/>
            <a:ext cx="685800" cy="68580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16" name="節氣藥膳與營養飲食 icon" descr="節氣藥膳與營養飲食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5090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chemeClr val="tx2"/>
                </a:solidFill>
              </a:rPr>
              <a:t>節氣藥膳與營養飲食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當季食材、低負擔餐食、草本茶飲、養生饅頭及健康點心</a:t>
            </a:r>
            <a:endParaRPr lang="en-US" sz="1300" dirty="0"/>
          </a:p>
        </p:txBody>
      </p:sp>
      <p:sp>
        <p:nvSpPr>
          <p:cNvPr id="19" name="Pillar 身心調養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20" name="身心調養 circle"/>
          <p:cNvSpPr/>
          <p:nvPr/>
        </p:nvSpPr>
        <p:spPr>
          <a:xfrm>
            <a:off x="4892040" y="3337560"/>
            <a:ext cx="685800" cy="68580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21" name="身心調養 icon" descr="身心調養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50901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607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chemeClr val="tx2"/>
                </a:solidFill>
              </a:rPr>
              <a:t>身心調養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76072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伸展、太極、瑜伽、正念及放鬆活動，依能力安排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先劃清界線：療癒旅宿 ≠ 醫療康復</a:t>
            </a:r>
            <a:endParaRPr lang="en-US" sz="2800" dirty="0"/>
          </a:p>
        </p:txBody>
      </p:sp>
      <p:sp>
        <p:nvSpPr>
          <p:cNvPr id="3" name="Wellness column"/>
          <p:cNvSpPr/>
          <p:nvPr/>
        </p:nvSpPr>
        <p:spPr>
          <a:xfrm>
            <a:off x="457200" y="118872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4" name="Allowed circle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7FA37A"/>
          </a:solidFill>
          <a:ln w="12700">
            <a:solidFill>
              <a:srgbClr val="7FA37A"/>
            </a:solidFill>
            <a:prstDash val="solid"/>
          </a:ln>
        </p:spPr>
      </p:sp>
      <p:pic>
        <p:nvPicPr>
          <p:cNvPr id="5" name="Allowed icon" descr="Allow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chemeClr val="tx2"/>
                </a:solidFill>
              </a:rPr>
              <a:t>一般療癒旅宿可提供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休息、減壓與健康生活體驗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睡眠環境與放鬆儀式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節氣飲食與草本茶飲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溫和身心活動與課程</a:t>
            </a:r>
            <a:endParaRPr lang="en-US" sz="1400" dirty="0"/>
          </a:p>
        </p:txBody>
      </p:sp>
      <p:sp>
        <p:nvSpPr>
          <p:cNvPr id="8" name="Medical column"/>
          <p:cNvSpPr/>
          <p:nvPr/>
        </p:nvSpPr>
        <p:spPr>
          <a:xfrm>
            <a:off x="4709160" y="118872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F6EDE7"/>
          </a:solidFill>
          <a:ln w="12700">
            <a:solidFill>
              <a:srgbClr val="F6EDE7"/>
            </a:solidFill>
            <a:prstDash val="solid"/>
          </a:ln>
        </p:spPr>
      </p:sp>
      <p:sp>
        <p:nvSpPr>
          <p:cNvPr id="9" name="Caution circle"/>
          <p:cNvSpPr/>
          <p:nvPr/>
        </p:nvSpPr>
        <p:spPr>
          <a:xfrm>
            <a:off x="4983480" y="1417320"/>
            <a:ext cx="548640" cy="54864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10" name="Caution icon" descr="Cau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chemeClr val="accent3"/>
                </a:solidFill>
              </a:rPr>
              <a:t>需另行規劃醫療資質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148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中風後復健、術後康復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神經復健、疾病治療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需專業人員、設備與許可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或與合格醫療機構轉診合作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不誇大療效，不以治療疾病作行銷承諾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空間規劃：15–20 間客房形成經濟規模</a:t>
            </a:r>
            <a:endParaRPr lang="en-US" sz="2800" dirty="0"/>
          </a:p>
        </p:txBody>
      </p:sp>
      <p:sp>
        <p:nvSpPr>
          <p:cNvPr id="3" name="Room count"/>
          <p:cNvSpPr/>
          <p:nvPr/>
        </p:nvSpPr>
        <p:spPr>
          <a:xfrm>
            <a:off x="457200" y="1188720"/>
            <a:ext cx="2377440" cy="3246120"/>
          </a:xfrm>
          <a:prstGeom prst="roundRect">
            <a:avLst>
              <a:gd name="adj" fmla="val 3077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08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300"/>
              </a:lnSpc>
              <a:buNone/>
            </a:pPr>
            <a:r>
              <a:rPr lang="en-US" sz="5000" b="1" dirty="0">
                <a:solidFill>
                  <a:schemeClr val="bg1"/>
                </a:solidFill>
              </a:rPr>
              <a:t>15–20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chemeClr val="accent4"/>
                </a:solidFill>
              </a:rPr>
              <a:t>間客房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089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4"/>
                </a:solidFill>
              </a:rPr>
              <a:t>足以分攤療癒師、廚房與活動人力，形成經濟規模；又能維持小團體的陪伴品質</a:t>
            </a:r>
            <a:endParaRPr lang="en-US" sz="1200" dirty="0"/>
          </a:p>
        </p:txBody>
      </p:sp>
      <p:sp>
        <p:nvSpPr>
          <p:cNvPr id="7" name="深度休息房 circle"/>
          <p:cNvSpPr/>
          <p:nvPr/>
        </p:nvSpPr>
        <p:spPr>
          <a:xfrm>
            <a:off x="3154680" y="1280160"/>
            <a:ext cx="594360" cy="59436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8" name="深度休息房 icon" descr="深度休息房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3270" y="142875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931920" y="1234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深度休息房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15727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遮光窗簾、舒適床墊、良好隔音、可調燈光、適當溫濕度與通風——最值得優先投資</a:t>
            </a:r>
            <a:endParaRPr lang="en-US" sz="1300" dirty="0"/>
          </a:p>
        </p:txBody>
      </p:sp>
      <p:sp>
        <p:nvSpPr>
          <p:cNvPr id="11" name="自然療癒房 circle"/>
          <p:cNvSpPr/>
          <p:nvPr/>
        </p:nvSpPr>
        <p:spPr>
          <a:xfrm>
            <a:off x="3154680" y="2377440"/>
            <a:ext cx="594360" cy="594360"/>
          </a:xfrm>
          <a:prstGeom prst="ellipse">
            <a:avLst/>
          </a:prstGeom>
          <a:solidFill>
            <a:srgbClr val="7FA37A"/>
          </a:solidFill>
          <a:ln w="12700">
            <a:solidFill>
              <a:srgbClr val="7FA37A"/>
            </a:solidFill>
            <a:prstDash val="solid"/>
          </a:ln>
        </p:spPr>
      </p:sp>
      <p:pic>
        <p:nvPicPr>
          <p:cNvPr id="12" name="自然療癒房 icon" descr="自然療癒房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270" y="252603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3192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自然療癒房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931920" y="26700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木質、棉麻、自然光與庭院景觀，適合房內閱讀、休息與安靜活動</a:t>
            </a:r>
            <a:endParaRPr lang="en-US" sz="1300" dirty="0"/>
          </a:p>
        </p:txBody>
      </p:sp>
      <p:sp>
        <p:nvSpPr>
          <p:cNvPr id="15" name="友善無障礙房 circle"/>
          <p:cNvSpPr/>
          <p:nvPr/>
        </p:nvSpPr>
        <p:spPr>
          <a:xfrm>
            <a:off x="3154680" y="3474720"/>
            <a:ext cx="594360" cy="59436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16" name="友善無障礙房 icon" descr="友善無障礙房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270" y="362331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31920" y="3429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友善無障礙房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931920" y="37673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無門檻動線、扶手、適當床高與易操作衛浴；接待術後或行動不便者需專業評估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四條核心服務線</a:t>
            </a:r>
            <a:endParaRPr lang="en-US" sz="2800" dirty="0"/>
          </a:p>
        </p:txBody>
      </p:sp>
      <p:sp>
        <p:nvSpPr>
          <p:cNvPr id="3" name="Line A"/>
          <p:cNvSpPr/>
          <p:nvPr/>
        </p:nvSpPr>
        <p:spPr>
          <a:xfrm>
            <a:off x="45720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D9E4D5"/>
          </a:solidFill>
          <a:ln w="12700">
            <a:solidFill>
              <a:srgbClr val="D9E4D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chemeClr val="tx2"/>
                </a:solidFill>
              </a:rPr>
              <a:t>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睡眠療癒計畫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了解作息偏好、晚間安靜時段、無咖啡因飲品、睡眠日記追蹤</a:t>
            </a:r>
            <a:endParaRPr lang="en-US" sz="1200" dirty="0"/>
          </a:p>
        </p:txBody>
      </p:sp>
      <p:sp>
        <p:nvSpPr>
          <p:cNvPr id="7" name="Line B"/>
          <p:cNvSpPr/>
          <p:nvPr/>
        </p:nvSpPr>
        <p:spPr>
          <a:xfrm>
            <a:off x="256032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chemeClr val="tx2"/>
                </a:solidFill>
              </a:rPr>
              <a:t>B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自然與身心放鬆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晨間散步、溫和伸展、呼吸練習、閱讀與晚間放鬆，自由選擇</a:t>
            </a:r>
            <a:endParaRPr lang="en-US" sz="1200" dirty="0"/>
          </a:p>
        </p:txBody>
      </p:sp>
      <p:sp>
        <p:nvSpPr>
          <p:cNvPr id="11" name="Line C"/>
          <p:cNvSpPr/>
          <p:nvPr/>
        </p:nvSpPr>
        <p:spPr>
          <a:xfrm>
            <a:off x="466344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D9E4D5"/>
          </a:solidFill>
          <a:ln w="12700">
            <a:solidFill>
              <a:srgbClr val="D9E4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chemeClr val="accent3"/>
                </a:solidFill>
              </a:rPr>
              <a:t>C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節氣飲食與養生廚房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二十四節氣菜單；五紅、五黑、茯苓饅頭與無咖啡因茶飲</a:t>
            </a:r>
            <a:endParaRPr lang="en-US" sz="1200" dirty="0"/>
          </a:p>
        </p:txBody>
      </p:sp>
      <p:sp>
        <p:nvSpPr>
          <p:cNvPr id="15" name="Line D"/>
          <p:cNvSpPr/>
          <p:nvPr/>
        </p:nvSpPr>
        <p:spPr>
          <a:xfrm>
            <a:off x="676656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chemeClr val="tx2"/>
                </a:solidFill>
              </a:rPr>
              <a:t>D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011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個人化休養旅程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依體力、飲食、作息提供 2 晚、3 晚、5 晚方案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chemeClr val="accent3"/>
                </a:solidFill>
              </a:rPr>
              <a:t>持續失眠、睡眠呼吸中止等問題應建議就醫；藥膳須確認食用安全與當地食品規定，不以餐飲取代治療。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品牌命名與定位</a:t>
            </a:r>
            <a:endParaRPr lang="en-US" sz="2800" dirty="0"/>
          </a:p>
        </p:txBody>
      </p:sp>
      <p:sp>
        <p:nvSpPr>
          <p:cNvPr id="3" name="Main brand card"/>
          <p:cNvSpPr/>
          <p:nvPr/>
        </p:nvSpPr>
        <p:spPr>
          <a:xfrm>
            <a:off x="457200" y="118872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建議主品牌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chemeClr val="bg1"/>
                </a:solidFill>
              </a:rPr>
              <a:t>十療・五日重生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4"/>
                </a:solidFill>
              </a:rPr>
              <a:t>一讀就懂內容（十種療法）與時長（五天）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4"/>
                </a:solidFill>
              </a:rPr>
              <a:t>不是醫院，也不是一般度假，而是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i="1" dirty="0">
                <a:solidFill>
                  <a:schemeClr val="accent2"/>
                </a:solidFill>
              </a:rPr>
              <a:t>「有專業團隊陪伴的身心復原之旅」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11887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備選名稱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600200"/>
          <a:ext cx="4434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50876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名稱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訴求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適合場景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十療・五日重生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完整、易記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主品牌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陳博士山海療癒所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主理人背書、專業感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酒店樓層掛牌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五日養生營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親民、好推廣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投放廣告、社群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十療・三境辟穀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山海湖地景＋辟穀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依地景多酒店複製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目標客群</a:t>
            </a:r>
            <a:endParaRPr lang="en-US" sz="2800" dirty="0"/>
          </a:p>
        </p:txBody>
      </p:sp>
      <p:sp>
        <p:nvSpPr>
          <p:cNvPr id="3" name="Audience 慢性健康困擾"/>
          <p:cNvSpPr/>
          <p:nvPr/>
        </p:nvSpPr>
        <p:spPr>
          <a:xfrm>
            <a:off x="457200" y="118872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4" name="慢性健康困擾 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5" name="慢性健康困擾 icon" descr="慢性健康困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慢性健康困擾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45–70 歲，有三高、糖尿病、失眠或前列腺困擾者</a:t>
            </a:r>
            <a:endParaRPr lang="en-US" sz="1300" dirty="0"/>
          </a:p>
        </p:txBody>
      </p:sp>
      <p:sp>
        <p:nvSpPr>
          <p:cNvPr id="8" name="Audience 高壓與耗竭"/>
          <p:cNvSpPr/>
          <p:nvPr/>
        </p:nvSpPr>
        <p:spPr>
          <a:xfrm>
            <a:off x="3264408" y="118872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9" name="高壓與耗竭 circle"/>
          <p:cNvSpPr/>
          <p:nvPr/>
        </p:nvSpPr>
        <p:spPr>
          <a:xfrm>
            <a:off x="3493008" y="1417320"/>
            <a:ext cx="548640" cy="54864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10" name="高壓與耗竭 icon" descr="高壓與耗竭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78808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高壓與耗竭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高壓工作者、過勞、情緒耗竭者</a:t>
            </a:r>
            <a:endParaRPr lang="en-US" sz="1300" dirty="0"/>
          </a:p>
        </p:txBody>
      </p:sp>
      <p:sp>
        <p:nvSpPr>
          <p:cNvPr id="13" name="Audience 恢復期調養"/>
          <p:cNvSpPr/>
          <p:nvPr/>
        </p:nvSpPr>
        <p:spPr>
          <a:xfrm>
            <a:off x="6071616" y="118872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4" name="恢復期調養 circle"/>
          <p:cNvSpPr/>
          <p:nvPr/>
        </p:nvSpPr>
        <p:spPr>
          <a:xfrm>
            <a:off x="6300216" y="1417320"/>
            <a:ext cx="548640" cy="54864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15" name="恢復期調養 icon" descr="恢復期調養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54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86016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恢復期調養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產後、術後或病後恢復期者</a:t>
            </a:r>
            <a:endParaRPr lang="en-US" sz="1300" dirty="0"/>
          </a:p>
        </p:txBody>
      </p:sp>
      <p:sp>
        <p:nvSpPr>
          <p:cNvPr id="18" name="Audience 女性調理"/>
          <p:cNvSpPr/>
          <p:nvPr/>
        </p:nvSpPr>
        <p:spPr>
          <a:xfrm>
            <a:off x="457200" y="288036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9" name="女性調理 circle"/>
          <p:cNvSpPr/>
          <p:nvPr/>
        </p:nvSpPr>
        <p:spPr>
          <a:xfrm>
            <a:off x="685800" y="3108960"/>
            <a:ext cx="548640" cy="54864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20" name="女性調理 icon" descr="女性調理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461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女性調理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有痛經、體質調理或減重需求的女性</a:t>
            </a:r>
            <a:endParaRPr lang="en-US" sz="1300" dirty="0"/>
          </a:p>
        </p:txBody>
      </p:sp>
      <p:sp>
        <p:nvSpPr>
          <p:cNvPr id="23" name="Audience 送禮與企業福利"/>
          <p:cNvSpPr/>
          <p:nvPr/>
        </p:nvSpPr>
        <p:spPr>
          <a:xfrm>
            <a:off x="3264408" y="288036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24" name="送禮與企業福利 circle"/>
          <p:cNvSpPr/>
          <p:nvPr/>
        </p:nvSpPr>
        <p:spPr>
          <a:xfrm>
            <a:off x="3493008" y="3108960"/>
            <a:ext cx="548640" cy="54864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25" name="送禮與企業福利 icon" descr="送禮與企業福利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32461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78808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送禮與企業福利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93008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子女送父母的「孝親禮」、企業高階主管福利</a:t>
            </a:r>
            <a:endParaRPr lang="en-US" sz="1300" dirty="0"/>
          </a:p>
        </p:txBody>
      </p:sp>
      <p:sp>
        <p:nvSpPr>
          <p:cNvPr id="28" name="Audience insight"/>
          <p:cNvSpPr/>
          <p:nvPr/>
        </p:nvSpPr>
        <p:spPr>
          <a:xfrm>
            <a:off x="6071616" y="288036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300216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客源不只自用，也來自子女孝親與企業福利採購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十大療癒模組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分為「身、心、食、眠」四大主軸；入住當天先做體質與健康評估，再配對個人化組合</a:t>
            </a:r>
            <a:endParaRPr lang="en-US" sz="1300" dirty="0"/>
          </a:p>
        </p:txBody>
      </p:sp>
      <p:sp>
        <p:nvSpPr>
          <p:cNvPr id="4" name="Module 心療"/>
          <p:cNvSpPr/>
          <p:nvPr/>
        </p:nvSpPr>
        <p:spPr>
          <a:xfrm>
            <a:off x="457200" y="132588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35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Axis 心"/>
          <p:cNvSpPr/>
          <p:nvPr/>
        </p:nvSpPr>
        <p:spPr>
          <a:xfrm>
            <a:off x="1554480" y="1417320"/>
            <a:ext cx="347472" cy="347472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bg1"/>
                </a:solidFill>
              </a:rPr>
              <a:t>心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37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心療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7568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個別諮商、團體分享、情緒評估</a:t>
            </a:r>
            <a:endParaRPr lang="en-US" sz="1100" dirty="0"/>
          </a:p>
        </p:txBody>
      </p:sp>
      <p:sp>
        <p:nvSpPr>
          <p:cNvPr id="10" name="Module 食療"/>
          <p:cNvSpPr/>
          <p:nvPr/>
        </p:nvSpPr>
        <p:spPr>
          <a:xfrm>
            <a:off x="2121408" y="132588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58568" y="1435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Axis 食"/>
          <p:cNvSpPr/>
          <p:nvPr/>
        </p:nvSpPr>
        <p:spPr>
          <a:xfrm>
            <a:off x="3218688" y="1417320"/>
            <a:ext cx="347472" cy="347472"/>
          </a:xfrm>
          <a:prstGeom prst="ellipse">
            <a:avLst/>
          </a:prstGeom>
          <a:solidFill>
            <a:srgbClr val="7FA37A"/>
          </a:solidFill>
          <a:ln w="12700">
            <a:solidFill>
              <a:srgbClr val="7FA3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18688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bg1"/>
                </a:solidFill>
              </a:rPr>
              <a:t>食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58568" y="1737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食療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58568" y="207568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藥膳、午後藥飲、辟穀；三高等九大體質菜單</a:t>
            </a:r>
            <a:endParaRPr lang="en-US" sz="1100" dirty="0"/>
          </a:p>
        </p:txBody>
      </p:sp>
      <p:sp>
        <p:nvSpPr>
          <p:cNvPr id="16" name="Module 放鬆療癒"/>
          <p:cNvSpPr/>
          <p:nvPr/>
        </p:nvSpPr>
        <p:spPr>
          <a:xfrm>
            <a:off x="3785616" y="132588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22776" y="1435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Axis 身"/>
          <p:cNvSpPr/>
          <p:nvPr/>
        </p:nvSpPr>
        <p:spPr>
          <a:xfrm>
            <a:off x="4882896" y="1417320"/>
            <a:ext cx="347472" cy="347472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82896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bg1"/>
                </a:solidFill>
              </a:rPr>
              <a:t>身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922776" y="1737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放鬆療癒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922776" y="207568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經絡按摩、溫泡、SPA、足浴</a:t>
            </a:r>
            <a:endParaRPr lang="en-US" sz="1100" dirty="0"/>
          </a:p>
        </p:txBody>
      </p:sp>
      <p:sp>
        <p:nvSpPr>
          <p:cNvPr id="22" name="Module 自然療癒"/>
          <p:cNvSpPr/>
          <p:nvPr/>
        </p:nvSpPr>
        <p:spPr>
          <a:xfrm>
            <a:off x="5449824" y="132588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86984" y="1435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Axis 身"/>
          <p:cNvSpPr/>
          <p:nvPr/>
        </p:nvSpPr>
        <p:spPr>
          <a:xfrm>
            <a:off x="6547104" y="1417320"/>
            <a:ext cx="347472" cy="347472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47104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bg1"/>
                </a:solidFill>
              </a:rPr>
              <a:t>身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586984" y="1737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自然療癒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586984" y="207568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森林步道、海邊散步、八段錦、太極拳</a:t>
            </a:r>
            <a:endParaRPr lang="en-US" sz="1100" dirty="0"/>
          </a:p>
        </p:txBody>
      </p:sp>
      <p:sp>
        <p:nvSpPr>
          <p:cNvPr id="28" name="Module 香療"/>
          <p:cNvSpPr/>
          <p:nvPr/>
        </p:nvSpPr>
        <p:spPr>
          <a:xfrm>
            <a:off x="7114032" y="132588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51192" y="1435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05</a:t>
            </a:r>
            <a:endParaRPr lang="en-US" sz="1200" dirty="0"/>
          </a:p>
        </p:txBody>
      </p:sp>
      <p:sp>
        <p:nvSpPr>
          <p:cNvPr id="30" name="Axis 心"/>
          <p:cNvSpPr/>
          <p:nvPr/>
        </p:nvSpPr>
        <p:spPr>
          <a:xfrm>
            <a:off x="8211312" y="1417320"/>
            <a:ext cx="347472" cy="347472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11312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bg1"/>
                </a:solidFill>
              </a:rPr>
              <a:t>心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251192" y="1737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香療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251192" y="207568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芳香調油、精油按摩、房間香氛</a:t>
            </a:r>
            <a:endParaRPr lang="en-US" sz="1100" dirty="0"/>
          </a:p>
        </p:txBody>
      </p:sp>
      <p:sp>
        <p:nvSpPr>
          <p:cNvPr id="34" name="Module 音療"/>
          <p:cNvSpPr/>
          <p:nvPr/>
        </p:nvSpPr>
        <p:spPr>
          <a:xfrm>
            <a:off x="457200" y="2862072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06</a:t>
            </a:r>
            <a:endParaRPr lang="en-US" sz="1200" dirty="0"/>
          </a:p>
        </p:txBody>
      </p:sp>
      <p:sp>
        <p:nvSpPr>
          <p:cNvPr id="36" name="Axis 心"/>
          <p:cNvSpPr/>
          <p:nvPr/>
        </p:nvSpPr>
        <p:spPr>
          <a:xfrm>
            <a:off x="1554480" y="2953512"/>
            <a:ext cx="347472" cy="347472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55448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bg1"/>
                </a:solidFill>
              </a:rPr>
              <a:t>心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32735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音療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361188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頌缽、水晶缽、自然聲音浴</a:t>
            </a:r>
            <a:endParaRPr lang="en-US" sz="1100" dirty="0"/>
          </a:p>
        </p:txBody>
      </p:sp>
      <p:sp>
        <p:nvSpPr>
          <p:cNvPr id="40" name="Module 康復療癒"/>
          <p:cNvSpPr/>
          <p:nvPr/>
        </p:nvSpPr>
        <p:spPr>
          <a:xfrm>
            <a:off x="2121408" y="2862072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258568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07</a:t>
            </a:r>
            <a:endParaRPr lang="en-US" sz="1200" dirty="0"/>
          </a:p>
        </p:txBody>
      </p:sp>
      <p:sp>
        <p:nvSpPr>
          <p:cNvPr id="42" name="Axis 身"/>
          <p:cNvSpPr/>
          <p:nvPr/>
        </p:nvSpPr>
        <p:spPr>
          <a:xfrm>
            <a:off x="3218688" y="2953512"/>
            <a:ext cx="347472" cy="347472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218688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bg1"/>
                </a:solidFill>
              </a:rPr>
              <a:t>身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2258568" y="32735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康復療癒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2258568" y="361188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體能評估、復健設備、肌力訓練</a:t>
            </a:r>
            <a:endParaRPr lang="en-US" sz="1100" dirty="0"/>
          </a:p>
        </p:txBody>
      </p:sp>
      <p:sp>
        <p:nvSpPr>
          <p:cNvPr id="46" name="Module 冥想"/>
          <p:cNvSpPr/>
          <p:nvPr/>
        </p:nvSpPr>
        <p:spPr>
          <a:xfrm>
            <a:off x="3785616" y="2862072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922776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08</a:t>
            </a:r>
            <a:endParaRPr lang="en-US" sz="1200" dirty="0"/>
          </a:p>
        </p:txBody>
      </p:sp>
      <p:sp>
        <p:nvSpPr>
          <p:cNvPr id="48" name="Axis 心"/>
          <p:cNvSpPr/>
          <p:nvPr/>
        </p:nvSpPr>
        <p:spPr>
          <a:xfrm>
            <a:off x="4882896" y="2953512"/>
            <a:ext cx="347472" cy="347472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882896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bg1"/>
                </a:solidFill>
              </a:rPr>
              <a:t>心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3922776" y="32735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冥想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3922776" y="361188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晨間正念、呼吸法、睡前放鬆</a:t>
            </a:r>
            <a:endParaRPr lang="en-US" sz="1100" dirty="0"/>
          </a:p>
        </p:txBody>
      </p:sp>
      <p:sp>
        <p:nvSpPr>
          <p:cNvPr id="52" name="Module 睡眠療癒"/>
          <p:cNvSpPr/>
          <p:nvPr/>
        </p:nvSpPr>
        <p:spPr>
          <a:xfrm>
            <a:off x="5449824" y="2862072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586984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09</a:t>
            </a:r>
            <a:endParaRPr lang="en-US" sz="1200" dirty="0"/>
          </a:p>
        </p:txBody>
      </p:sp>
      <p:sp>
        <p:nvSpPr>
          <p:cNvPr id="54" name="Axis 眠"/>
          <p:cNvSpPr/>
          <p:nvPr/>
        </p:nvSpPr>
        <p:spPr>
          <a:xfrm>
            <a:off x="6547104" y="2953512"/>
            <a:ext cx="347472" cy="347472"/>
          </a:xfrm>
          <a:prstGeom prst="ellipse">
            <a:avLst/>
          </a:prstGeom>
          <a:solidFill>
            <a:srgbClr val="5E6B63"/>
          </a:solidFill>
          <a:ln w="12700">
            <a:solidFill>
              <a:srgbClr val="5E6B6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547104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bg1"/>
                </a:solidFill>
              </a:rPr>
              <a:t>眠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5586984" y="32735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睡眠療癒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586984" y="361188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睡眠評估、睡眠環境調整、睡前儀式</a:t>
            </a:r>
            <a:endParaRPr lang="en-US" sz="1100" dirty="0"/>
          </a:p>
        </p:txBody>
      </p:sp>
      <p:sp>
        <p:nvSpPr>
          <p:cNvPr id="58" name="Module 減重管理"/>
          <p:cNvSpPr/>
          <p:nvPr/>
        </p:nvSpPr>
        <p:spPr>
          <a:xfrm>
            <a:off x="7114032" y="2862072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251192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10</a:t>
            </a:r>
            <a:endParaRPr lang="en-US" sz="1200" dirty="0"/>
          </a:p>
        </p:txBody>
      </p:sp>
      <p:sp>
        <p:nvSpPr>
          <p:cNvPr id="60" name="Axis 身"/>
          <p:cNvSpPr/>
          <p:nvPr/>
        </p:nvSpPr>
        <p:spPr>
          <a:xfrm>
            <a:off x="8211312" y="2953512"/>
            <a:ext cx="347472" cy="347472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11312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chemeClr val="bg1"/>
                </a:solidFill>
              </a:rPr>
              <a:t>身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7251192" y="32735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減重管理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7251192" y="361188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體組成量測、飲食計畫、結業後 30 天追蹤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山・海・湖三境 × 十療辟穀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地景提供療癒場域，十療與辟穀提供方法——兩者相輔相乘</a:t>
            </a:r>
            <a:endParaRPr lang="en-US" sz="1300" dirty="0"/>
          </a:p>
        </p:txBody>
      </p:sp>
      <p:sp>
        <p:nvSpPr>
          <p:cNvPr id="4" name="山境"/>
          <p:cNvSpPr/>
          <p:nvPr/>
        </p:nvSpPr>
        <p:spPr>
          <a:xfrm>
            <a:off x="457200" y="1325880"/>
            <a:ext cx="2615184" cy="2606040"/>
          </a:xfrm>
          <a:prstGeom prst="roundRect">
            <a:avLst>
              <a:gd name="adj" fmla="val 2807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5" name="山境 circle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6" name="山境 icon" descr="山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山境・清修辟穀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801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chemeClr val="accent3"/>
                </a:solidFill>
              </a:rPr>
              <a:t>以山養靜</a:t>
            </a:r>
            <a:endParaRPr lang="en-US" sz="1200" dirty="0"/>
          </a:p>
        </p:txBody>
      </p:sp>
      <p:sp>
        <p:nvSpPr>
          <p:cNvPr id="9" name="山境 tag 1"/>
          <p:cNvSpPr/>
          <p:nvPr/>
        </p:nvSpPr>
        <p:spPr>
          <a:xfrm>
            <a:off x="640080" y="223113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231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chemeClr val="bg1"/>
                </a:solidFill>
              </a:rPr>
              <a:t>場域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2128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森林、山泉、林間平台</a:t>
            </a:r>
            <a:endParaRPr lang="en-US" sz="1200" dirty="0"/>
          </a:p>
        </p:txBody>
      </p:sp>
      <p:sp>
        <p:nvSpPr>
          <p:cNvPr id="12" name="山境 tag 2"/>
          <p:cNvSpPr/>
          <p:nvPr/>
        </p:nvSpPr>
        <p:spPr>
          <a:xfrm>
            <a:off x="640080" y="277977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7797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chemeClr val="bg1"/>
                </a:solidFill>
              </a:rPr>
              <a:t>十療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761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林間太極八段錦、山泉溫泡、鳥鳴聲音浴</a:t>
            </a:r>
            <a:endParaRPr lang="en-US" sz="1200" dirty="0"/>
          </a:p>
        </p:txBody>
      </p:sp>
      <p:sp>
        <p:nvSpPr>
          <p:cNvPr id="15" name="山境 tag 3"/>
          <p:cNvSpPr/>
          <p:nvPr/>
        </p:nvSpPr>
        <p:spPr>
          <a:xfrm>
            <a:off x="640080" y="332841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3284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chemeClr val="bg1"/>
                </a:solidFill>
              </a:rPr>
              <a:t>辟穀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3101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林間吐納、山泉草本飲</a:t>
            </a:r>
            <a:endParaRPr lang="en-US" sz="1200" dirty="0"/>
          </a:p>
        </p:txBody>
      </p:sp>
      <p:sp>
        <p:nvSpPr>
          <p:cNvPr id="18" name="海境"/>
          <p:cNvSpPr/>
          <p:nvPr/>
        </p:nvSpPr>
        <p:spPr>
          <a:xfrm>
            <a:off x="3264408" y="1325880"/>
            <a:ext cx="2615184" cy="2606040"/>
          </a:xfrm>
          <a:prstGeom prst="roundRect">
            <a:avLst>
              <a:gd name="adj" fmla="val 2807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9" name="海境 circle"/>
          <p:cNvSpPr/>
          <p:nvPr/>
        </p:nvSpPr>
        <p:spPr>
          <a:xfrm>
            <a:off x="3447288" y="1463040"/>
            <a:ext cx="548640" cy="548640"/>
          </a:xfrm>
          <a:prstGeom prst="ellipse">
            <a:avLst/>
          </a:prstGeom>
          <a:solidFill>
            <a:srgbClr val="3E6B7A"/>
          </a:solidFill>
          <a:ln w="12700">
            <a:solidFill>
              <a:srgbClr val="3E6B7A"/>
            </a:solidFill>
            <a:prstDash val="solid"/>
          </a:ln>
        </p:spPr>
      </p:sp>
      <p:pic>
        <p:nvPicPr>
          <p:cNvPr id="20" name="海境 icon" descr="海境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60020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133088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海境・潮息辟穀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4133088" y="1801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chemeClr val="accent3"/>
                </a:solidFill>
              </a:rPr>
              <a:t>以海調息</a:t>
            </a:r>
            <a:endParaRPr lang="en-US" sz="1200" dirty="0"/>
          </a:p>
        </p:txBody>
      </p:sp>
      <p:sp>
        <p:nvSpPr>
          <p:cNvPr id="23" name="海境 tag 1"/>
          <p:cNvSpPr/>
          <p:nvPr/>
        </p:nvSpPr>
        <p:spPr>
          <a:xfrm>
            <a:off x="3447288" y="223113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3E6B7A"/>
          </a:solidFill>
          <a:ln w="12700">
            <a:solidFill>
              <a:srgbClr val="3E6B7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447288" y="2231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chemeClr val="bg1"/>
                </a:solidFill>
              </a:rPr>
              <a:t>場域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4087368" y="22128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海岸、沙灘、海風</a:t>
            </a:r>
            <a:endParaRPr lang="en-US" sz="1200" dirty="0"/>
          </a:p>
        </p:txBody>
      </p:sp>
      <p:sp>
        <p:nvSpPr>
          <p:cNvPr id="26" name="海境 tag 2"/>
          <p:cNvSpPr/>
          <p:nvPr/>
        </p:nvSpPr>
        <p:spPr>
          <a:xfrm>
            <a:off x="3447288" y="277977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3E6B7A"/>
          </a:solidFill>
          <a:ln w="12700">
            <a:solidFill>
              <a:srgbClr val="3E6B7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447288" y="27797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chemeClr val="bg1"/>
                </a:solidFill>
              </a:rPr>
              <a:t>十療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4087368" y="2761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海邊散步、海浪聲音浴、日出冥想</a:t>
            </a:r>
            <a:endParaRPr lang="en-US" sz="1200" dirty="0"/>
          </a:p>
        </p:txBody>
      </p:sp>
      <p:sp>
        <p:nvSpPr>
          <p:cNvPr id="29" name="海境 tag 3"/>
          <p:cNvSpPr/>
          <p:nvPr/>
        </p:nvSpPr>
        <p:spPr>
          <a:xfrm>
            <a:off x="3447288" y="332841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3E6B7A"/>
          </a:solidFill>
          <a:ln w="12700">
            <a:solidFill>
              <a:srgbClr val="3E6B7A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447288" y="33284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chemeClr val="bg1"/>
                </a:solidFill>
              </a:rPr>
              <a:t>辟穀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087368" y="33101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海風服氣、潮汐呼吸法</a:t>
            </a:r>
            <a:endParaRPr lang="en-US" sz="1200" dirty="0"/>
          </a:p>
        </p:txBody>
      </p:sp>
      <p:sp>
        <p:nvSpPr>
          <p:cNvPr id="32" name="湖境"/>
          <p:cNvSpPr/>
          <p:nvPr/>
        </p:nvSpPr>
        <p:spPr>
          <a:xfrm>
            <a:off x="6071616" y="1325880"/>
            <a:ext cx="2615184" cy="2606040"/>
          </a:xfrm>
          <a:prstGeom prst="roundRect">
            <a:avLst>
              <a:gd name="adj" fmla="val 2807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33" name="湖境 circle"/>
          <p:cNvSpPr/>
          <p:nvPr/>
        </p:nvSpPr>
        <p:spPr>
          <a:xfrm>
            <a:off x="6254496" y="1463040"/>
            <a:ext cx="548640" cy="54864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34" name="湖境 icon" descr="湖境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600200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940296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湖境・澄心辟穀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6940296" y="1801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chemeClr val="accent3"/>
                </a:solidFill>
              </a:rPr>
              <a:t>以湖澄心</a:t>
            </a:r>
            <a:endParaRPr lang="en-US" sz="1200" dirty="0"/>
          </a:p>
        </p:txBody>
      </p:sp>
      <p:sp>
        <p:nvSpPr>
          <p:cNvPr id="37" name="湖境 tag 1"/>
          <p:cNvSpPr/>
          <p:nvPr/>
        </p:nvSpPr>
        <p:spPr>
          <a:xfrm>
            <a:off x="6254496" y="223113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254496" y="2231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chemeClr val="bg1"/>
                </a:solidFill>
              </a:rPr>
              <a:t>場域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6894576" y="22128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湖畔、晨霧、靜水</a:t>
            </a:r>
            <a:endParaRPr lang="en-US" sz="1200" dirty="0"/>
          </a:p>
        </p:txBody>
      </p:sp>
      <p:sp>
        <p:nvSpPr>
          <p:cNvPr id="40" name="湖境 tag 2"/>
          <p:cNvSpPr/>
          <p:nvPr/>
        </p:nvSpPr>
        <p:spPr>
          <a:xfrm>
            <a:off x="6254496" y="277977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254496" y="27797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chemeClr val="bg1"/>
                </a:solidFill>
              </a:rPr>
              <a:t>十療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6894576" y="2761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湖畔散步、晨霧靜坐、水聲伴眠</a:t>
            </a:r>
            <a:endParaRPr lang="en-US" sz="1200" dirty="0"/>
          </a:p>
        </p:txBody>
      </p:sp>
      <p:sp>
        <p:nvSpPr>
          <p:cNvPr id="43" name="湖境 tag 3"/>
          <p:cNvSpPr/>
          <p:nvPr/>
        </p:nvSpPr>
        <p:spPr>
          <a:xfrm>
            <a:off x="6254496" y="3328416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6254496" y="33284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chemeClr val="bg1"/>
                </a:solidFill>
              </a:rPr>
              <a:t>辟穀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6894576" y="33101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靜觀服氣、湖畔正念</a:t>
            </a:r>
            <a:endParaRPr lang="en-US" sz="1200" dirty="0"/>
          </a:p>
        </p:txBody>
      </p:sp>
      <p:sp>
        <p:nvSpPr>
          <p:cNvPr id="46" name="Series callout"/>
          <p:cNvSpPr/>
          <p:nvPr/>
        </p:nvSpPr>
        <p:spPr>
          <a:xfrm>
            <a:off x="457200" y="40416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685800" y="40416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</a:rPr>
              <a:t>系列名「十療・三境辟穀」：同一套十療＋辟穀，依飯店地景選擇山境、海境或湖境，利於多酒店複製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辟穀五日：減食 → 辟穀 → 復食</a:t>
            </a:r>
            <a:endParaRPr lang="en-US" sz="2800" dirty="0"/>
          </a:p>
        </p:txBody>
      </p:sp>
      <p:sp>
        <p:nvSpPr>
          <p:cNvPr id="3" name="Bigu D1"/>
          <p:cNvSpPr/>
          <p:nvPr/>
        </p:nvSpPr>
        <p:spPr>
          <a:xfrm>
            <a:off x="457200" y="118872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3"/>
                </a:solidFill>
              </a:rPr>
              <a:t>D1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72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評估・常食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84248"/>
            <a:ext cx="1307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入住前測，藥膳常食，決定辟穀分級</a:t>
            </a:r>
            <a:endParaRPr lang="en-US" sz="1200" dirty="0"/>
          </a:p>
        </p:txBody>
      </p:sp>
      <p:sp>
        <p:nvSpPr>
          <p:cNvPr id="7" name="Bigu D2"/>
          <p:cNvSpPr/>
          <p:nvPr/>
        </p:nvSpPr>
        <p:spPr>
          <a:xfrm>
            <a:off x="2121408" y="118872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58568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3"/>
                </a:solidFill>
              </a:rPr>
              <a:t>D2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58568" y="1572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減食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58568" y="1984248"/>
            <a:ext cx="1307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清淡藥膳、逐步減量，讓身體適應</a:t>
            </a:r>
            <a:endParaRPr lang="en-US" sz="1200" dirty="0"/>
          </a:p>
        </p:txBody>
      </p:sp>
      <p:sp>
        <p:nvSpPr>
          <p:cNvPr id="11" name="Bigu D3"/>
          <p:cNvSpPr/>
          <p:nvPr/>
        </p:nvSpPr>
        <p:spPr>
          <a:xfrm>
            <a:off x="3785616" y="118872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D3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1572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辟穀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22776" y="1984248"/>
            <a:ext cx="1307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4"/>
                </a:solidFill>
              </a:rPr>
              <a:t>草本藥飲、清湯；服氣吐納、靜坐</a:t>
            </a:r>
            <a:endParaRPr lang="en-US" sz="1200" dirty="0"/>
          </a:p>
        </p:txBody>
      </p:sp>
      <p:sp>
        <p:nvSpPr>
          <p:cNvPr id="15" name="Bigu D4"/>
          <p:cNvSpPr/>
          <p:nvPr/>
        </p:nvSpPr>
        <p:spPr>
          <a:xfrm>
            <a:off x="5449824" y="118872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86984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D4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586984" y="1572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辟穀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86984" y="1984248"/>
            <a:ext cx="1307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4"/>
                </a:solidFill>
              </a:rPr>
              <a:t>延續辟穀，搭配溫和活動與充足休息</a:t>
            </a:r>
            <a:endParaRPr lang="en-US" sz="1200" dirty="0"/>
          </a:p>
        </p:txBody>
      </p:sp>
      <p:sp>
        <p:nvSpPr>
          <p:cNvPr id="19" name="Bigu D5"/>
          <p:cNvSpPr/>
          <p:nvPr/>
        </p:nvSpPr>
        <p:spPr>
          <a:xfrm>
            <a:off x="7114032" y="118872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51192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3"/>
                </a:solidFill>
              </a:rPr>
              <a:t>D5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251192" y="1572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復食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1984248"/>
            <a:ext cx="1307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米湯、粥品漸進復食；退房後測</a:t>
            </a:r>
            <a:endParaRPr lang="en-US" sz="1200" dirty="0"/>
          </a:p>
        </p:txBody>
      </p:sp>
      <p:sp>
        <p:nvSpPr>
          <p:cNvPr id="23" name="依前測分級"/>
          <p:cNvSpPr/>
          <p:nvPr/>
        </p:nvSpPr>
        <p:spPr>
          <a:xfrm>
            <a:off x="45720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24" name="依前測分級 circle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25" name="依前測分級 icon" descr="依前測分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8328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417320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依前測分級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36118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全辟穀／半辟穀／輕食調理三級；糖尿病、慢性病服藥者以半辟穀或輕食調理為主</a:t>
            </a:r>
            <a:endParaRPr lang="en-US" sz="1200" dirty="0"/>
          </a:p>
        </p:txBody>
      </p:sp>
      <p:sp>
        <p:nvSpPr>
          <p:cNvPr id="28" name="辟穀期間陪伴"/>
          <p:cNvSpPr/>
          <p:nvPr/>
        </p:nvSpPr>
        <p:spPr>
          <a:xfrm>
            <a:off x="466344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29" name="辟穀期間陪伴 circle"/>
          <p:cNvSpPr/>
          <p:nvPr/>
        </p:nvSpPr>
        <p:spPr>
          <a:xfrm>
            <a:off x="4892040" y="3246120"/>
            <a:ext cx="548640" cy="54864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30" name="辟穀期間陪伴 icon" descr="辟穀期間陪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383280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623560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辟穀期間陪伴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5623560" y="36118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服氣吐納、靜坐冥想、溫和伸展、草本藥飲，團隊每日關照身體狀況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個人化方式：前測 → 後測 → 五日健康報告</a:t>
            </a:r>
            <a:endParaRPr lang="en-US" sz="2800" dirty="0"/>
          </a:p>
        </p:txBody>
      </p:sp>
      <p:sp>
        <p:nvSpPr>
          <p:cNvPr id="3" name="入住前測 circle"/>
          <p:cNvSpPr/>
          <p:nvPr/>
        </p:nvSpPr>
        <p:spPr>
          <a:xfrm>
            <a:off x="1005840" y="1234440"/>
            <a:ext cx="777240" cy="77724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4" name="入住前測 icon" descr="入住前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1428750"/>
            <a:ext cx="388620" cy="388620"/>
          </a:xfrm>
          <a:prstGeom prst="rect">
            <a:avLst/>
          </a:prstGeom>
        </p:spPr>
      </p:pic>
      <p:pic>
        <p:nvPicPr>
          <p:cNvPr id="5" name="Arrow 1" descr="n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4630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入住前測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560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血壓、血糖、體組成、睡眠問卷、九大體質判定</a:t>
            </a:r>
            <a:endParaRPr lang="en-US" sz="1200" dirty="0"/>
          </a:p>
        </p:txBody>
      </p:sp>
      <p:sp>
        <p:nvSpPr>
          <p:cNvPr id="8" name="配對組合 circle"/>
          <p:cNvSpPr/>
          <p:nvPr/>
        </p:nvSpPr>
        <p:spPr>
          <a:xfrm>
            <a:off x="3108960" y="1234440"/>
            <a:ext cx="777240" cy="77724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9" name="配對組合 icon" descr="配對組合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270" y="1428750"/>
            <a:ext cx="388620" cy="388620"/>
          </a:xfrm>
          <a:prstGeom prst="rect">
            <a:avLst/>
          </a:prstGeom>
        </p:spPr>
      </p:pic>
      <p:pic>
        <p:nvPicPr>
          <p:cNvPr id="10" name="Arrow 2" descr="n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46304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56032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配對組合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2651760" y="2560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依評估結果，從十大模組配對個人化療程</a:t>
            </a:r>
            <a:endParaRPr lang="en-US" sz="1200" dirty="0"/>
          </a:p>
        </p:txBody>
      </p:sp>
      <p:sp>
        <p:nvSpPr>
          <p:cNvPr id="13" name="五日療程 circle"/>
          <p:cNvSpPr/>
          <p:nvPr/>
        </p:nvSpPr>
        <p:spPr>
          <a:xfrm>
            <a:off x="5212080" y="1234440"/>
            <a:ext cx="777240" cy="77724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pic>
        <p:nvPicPr>
          <p:cNvPr id="14" name="五日療程 icon" descr="五日療程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390" y="1428750"/>
            <a:ext cx="388620" cy="388620"/>
          </a:xfrm>
          <a:prstGeom prst="rect">
            <a:avLst/>
          </a:prstGeom>
        </p:spPr>
      </p:pic>
      <p:pic>
        <p:nvPicPr>
          <p:cNvPr id="15" name="Arrow 3" descr="nex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463040"/>
            <a:ext cx="320040" cy="32004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66344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五日療程</a:t>
            </a:r>
            <a:endParaRPr lang="en-US" sz="1600" dirty="0"/>
          </a:p>
        </p:txBody>
      </p:sp>
      <p:sp>
        <p:nvSpPr>
          <p:cNvPr id="17" name="Text 9"/>
          <p:cNvSpPr txBox="1"/>
          <p:nvPr/>
        </p:nvSpPr>
        <p:spPr>
          <a:xfrm>
            <a:off x="4754880" y="2560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評估 → 放鬆 → 調理 → 整合 → 返家</a:t>
            </a:r>
            <a:endParaRPr lang="en-US" sz="1200" dirty="0"/>
          </a:p>
        </p:txBody>
      </p:sp>
      <p:sp>
        <p:nvSpPr>
          <p:cNvPr id="18" name="退房後測 circle"/>
          <p:cNvSpPr/>
          <p:nvPr/>
        </p:nvSpPr>
        <p:spPr>
          <a:xfrm>
            <a:off x="7315200" y="1234440"/>
            <a:ext cx="777240" cy="777240"/>
          </a:xfrm>
          <a:prstGeom prst="ellipse">
            <a:avLst/>
          </a:prstGeom>
          <a:solidFill>
            <a:srgbClr val="C07A4F"/>
          </a:solidFill>
          <a:ln w="12700">
            <a:solidFill>
              <a:srgbClr val="C07A4F"/>
            </a:solidFill>
            <a:prstDash val="solid"/>
          </a:ln>
        </p:spPr>
      </p:sp>
      <p:pic>
        <p:nvPicPr>
          <p:cNvPr id="19" name="退房後測 icon" descr="退房後測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9510" y="1428750"/>
            <a:ext cx="388620" cy="38862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76656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退房後測</a:t>
            </a:r>
            <a:endParaRPr lang="en-US" sz="1600" dirty="0"/>
          </a:p>
        </p:txBody>
      </p:sp>
      <p:sp>
        <p:nvSpPr>
          <p:cNvPr id="21" name="Text 12"/>
          <p:cNvSpPr txBox="1"/>
          <p:nvPr/>
        </p:nvSpPr>
        <p:spPr>
          <a:xfrm>
            <a:off x="6858000" y="2560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退房前再測一次，與前測對照</a:t>
            </a:r>
            <a:endParaRPr lang="en-US" sz="1200" dirty="0"/>
          </a:p>
        </p:txBody>
      </p:sp>
      <p:sp>
        <p:nvSpPr>
          <p:cNvPr id="22" name="Report callout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73152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「五日健康報告」</a:t>
            </a:r>
            <a:endParaRPr lang="en-US" sz="2000" dirty="0"/>
          </a:p>
        </p:txBody>
      </p:sp>
      <p:sp>
        <p:nvSpPr>
          <p:cNvPr id="24" name="Text 15"/>
          <p:cNvSpPr txBox="1"/>
          <p:nvPr/>
        </p:nvSpPr>
        <p:spPr>
          <a:xfrm>
            <a:off x="3200400" y="35204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前後測對照，讓學員看見五天的變化——是口碑與回購的關鍵。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chemeClr val="tx2"/>
                </a:solidFill>
              </a:rPr>
              <a:t>5 天 4 夜行程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914400"/>
                <a:gridCol w="640080"/>
                <a:gridCol w="17373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天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主題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清晨 6:30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飲食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上午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D1（週一）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入住與評估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常食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11:00 報到、入住前測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D2（週二）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放下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太極拳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減食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山・海・湖步道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D3（週三）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身體調理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八段錦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辟穀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藥膳講座、康復評估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D4（週四）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心靈與整合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正念冥想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辟穀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自然療癒長程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D5（週五）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返家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太極拳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復食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健康後測、五日報告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aily fixed"/>
          <p:cNvSpPr/>
          <p:nvPr/>
        </p:nvSpPr>
        <p:spPr>
          <a:xfrm>
            <a:off x="612648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每天固定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737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晨操、藥膳或辟穀飲品、睡前療癒；中間時段輪換模組</a:t>
            </a:r>
            <a:endParaRPr lang="en-US" sz="1300" dirty="0"/>
          </a:p>
        </p:txBody>
      </p:sp>
      <p:sp>
        <p:nvSpPr>
          <p:cNvPr id="7" name="Weekday stay"/>
          <p:cNvSpPr/>
          <p:nvPr/>
        </p:nvSpPr>
        <p:spPr>
          <a:xfrm>
            <a:off x="6126480" y="2862072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2999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bg1"/>
                </a:solidFill>
              </a:rPr>
              <a:t>週一入住・週五退房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34107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accent4"/>
                </a:solidFill>
              </a:rPr>
              <a:t>避開酒店週末旺日，以平日填補客房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chemeClr val="bg1"/>
                </a:solidFill>
              </a:rPr>
              <a:t>結業後：30 天持續陪伴</a:t>
            </a:r>
            <a:endParaRPr lang="en-US" sz="4000" dirty="0"/>
          </a:p>
        </p:txBody>
      </p:sp>
      <p:sp>
        <p:nvSpPr>
          <p:cNvPr id="3" name="Value 1"/>
          <p:cNvSpPr/>
          <p:nvPr/>
        </p:nvSpPr>
        <p:spPr>
          <a:xfrm>
            <a:off x="640080" y="269748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3D5C4A"/>
          </a:solidFill>
          <a:ln w="12700">
            <a:solidFill>
              <a:srgbClr val="3D5C4A"/>
            </a:solidFill>
            <a:prstDash val="solid"/>
          </a:ln>
        </p:spPr>
      </p:sp>
      <p:sp>
        <p:nvSpPr>
          <p:cNvPr id="4" name="微信群 30 天追蹤 circle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7FA37A"/>
          </a:solidFill>
          <a:ln w="12700">
            <a:solidFill>
              <a:srgbClr val="7FA37A"/>
            </a:solidFill>
            <a:prstDash val="solid"/>
          </a:ln>
        </p:spPr>
      </p:sp>
      <p:pic>
        <p:nvPicPr>
          <p:cNvPr id="5" name="微信群 30 天追蹤 icon" descr="微信群 30 天追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489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微信群 30 天追蹤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307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4"/>
                </a:solidFill>
              </a:rPr>
              <a:t>結業後持續陪伴，不在退房時結束</a:t>
            </a:r>
            <a:endParaRPr lang="en-US" sz="1200" dirty="0"/>
          </a:p>
        </p:txBody>
      </p:sp>
      <p:sp>
        <p:nvSpPr>
          <p:cNvPr id="8" name="Value 2"/>
          <p:cNvSpPr/>
          <p:nvPr/>
        </p:nvSpPr>
        <p:spPr>
          <a:xfrm>
            <a:off x="3337560" y="269748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3D5C4A"/>
          </a:solidFill>
          <a:ln w="12700">
            <a:solidFill>
              <a:srgbClr val="3D5C4A"/>
            </a:solidFill>
            <a:prstDash val="solid"/>
          </a:ln>
        </p:spPr>
      </p:sp>
      <p:sp>
        <p:nvSpPr>
          <p:cNvPr id="9" name="每週一次回報 circle"/>
          <p:cNvSpPr/>
          <p:nvPr/>
        </p:nvSpPr>
        <p:spPr>
          <a:xfrm>
            <a:off x="3520440" y="2834640"/>
            <a:ext cx="457200" cy="457200"/>
          </a:xfrm>
          <a:prstGeom prst="ellipse">
            <a:avLst/>
          </a:prstGeom>
          <a:solidFill>
            <a:srgbClr val="7FA37A"/>
          </a:solidFill>
          <a:ln w="12700">
            <a:solidFill>
              <a:srgbClr val="7FA37A"/>
            </a:solidFill>
            <a:prstDash val="solid"/>
          </a:ln>
        </p:spPr>
      </p:sp>
      <p:pic>
        <p:nvPicPr>
          <p:cNvPr id="10" name="每週一次回報 icon" descr="每週一次回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29489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每週一次回報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37307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4"/>
                </a:solidFill>
              </a:rPr>
              <a:t>飲食與睡眠回報，延續健康習慣</a:t>
            </a:r>
            <a:endParaRPr lang="en-US" sz="1200" dirty="0"/>
          </a:p>
        </p:txBody>
      </p:sp>
      <p:sp>
        <p:nvSpPr>
          <p:cNvPr id="13" name="Value 3"/>
          <p:cNvSpPr/>
          <p:nvPr/>
        </p:nvSpPr>
        <p:spPr>
          <a:xfrm>
            <a:off x="6035040" y="269748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3D5C4A"/>
          </a:solidFill>
          <a:ln w="12700">
            <a:solidFill>
              <a:srgbClr val="3D5C4A"/>
            </a:solidFill>
            <a:prstDash val="solid"/>
          </a:ln>
        </p:spPr>
      </p:sp>
      <p:sp>
        <p:nvSpPr>
          <p:cNvPr id="14" name="回購與介紹親友 circle"/>
          <p:cNvSpPr/>
          <p:nvPr/>
        </p:nvSpPr>
        <p:spPr>
          <a:xfrm>
            <a:off x="6217920" y="2834640"/>
            <a:ext cx="457200" cy="457200"/>
          </a:xfrm>
          <a:prstGeom prst="ellipse">
            <a:avLst/>
          </a:prstGeom>
          <a:solidFill>
            <a:srgbClr val="7FA37A"/>
          </a:solidFill>
          <a:ln w="12700">
            <a:solidFill>
              <a:srgbClr val="7FA37A"/>
            </a:solidFill>
            <a:prstDash val="solid"/>
          </a:ln>
        </p:spPr>
      </p:sp>
      <p:pic>
        <p:nvPicPr>
          <p:cNvPr id="15" name="回購與介紹親友 icon" descr="回購與介紹親友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294894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回購與介紹親友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37307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4"/>
                </a:solidFill>
              </a:rPr>
              <a:t>以成果與陪伴帶動下一次入住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accent2"/>
                </a:solidFill>
              </a:rPr>
              <a:t>規劃設計｜陳博士康養團隊</a:t>
            </a:r>
            <a:endParaRPr lang="en-US" sz="13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640080" y="26974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ing Retreat">
  <a:themeElements>
    <a:clrScheme name="Healing Retreat">
      <a:dk1>
        <a:srgbClr val="1F2A24"/>
      </a:dk1>
      <a:lt1>
        <a:srgbClr val="FFFFFF"/>
      </a:lt1>
      <a:dk2>
        <a:srgbClr val="2F4A3A"/>
      </a:dk2>
      <a:lt2>
        <a:srgbClr val="EEF3EC"/>
      </a:lt2>
      <a:accent1>
        <a:srgbClr val="2F4A3A"/>
      </a:accent1>
      <a:accent2>
        <a:srgbClr val="7FA37A"/>
      </a:accent2>
      <a:accent3>
        <a:srgbClr val="C07A4F"/>
      </a:accent3>
      <a:accent4>
        <a:srgbClr val="D9E4D5"/>
      </a:accent4>
      <a:accent5>
        <a:srgbClr val="5E6B63"/>
      </a:accent5>
      <a:accent6>
        <a:srgbClr val="B23A3A"/>
      </a:accent6>
      <a:hlink>
        <a:srgbClr val="2F4A3A"/>
      </a:hlink>
      <a:folHlink>
        <a:srgbClr val="5E6B63"/>
      </a:folHlink>
    </a:clrScheme>
    <a:fontScheme name="Healing Retrea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雲水歸心｜康復療癒酒店整體設計規劃</dc:title>
  <dc:subject>PptxGenJS Presentation</dc:subject>
  <dc:creator>PptxGenJS</dc:creator>
  <cp:lastModifiedBy>PptxGenJS</cp:lastModifiedBy>
  <cp:revision>1</cp:revision>
  <dcterms:created xsi:type="dcterms:W3CDTF">2026-10-30T05:14:47Z</dcterms:created>
  <dcterms:modified xsi:type="dcterms:W3CDTF">2026-10-30T05:14:47Z</dcterms:modified>
</cp:coreProperties>
</file>