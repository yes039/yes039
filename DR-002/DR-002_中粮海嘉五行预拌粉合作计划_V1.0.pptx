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63e7a413-cea1-3f5e-5d89-68ce07ce6595}">
          <p14:sldIdLst>
            <p14:sldId id="256"/>
          </p14:sldIdLst>
        </p14:section>
        <p14:section name="合作基础" id="{9e6c1f06-3bba-14cb-3798-811efe94306d}">
          <p14:sldIdLst>
            <p14:sldId id="257"/>
            <p14:sldId id="258"/>
          </p14:sldIdLst>
        </p14:section>
        <p14:section name="产品与模式" id="{425031c3-cf5e-2750-39c5-88caaa52864c}">
          <p14:sldIdLst>
            <p14:sldId id="259"/>
            <p14:sldId id="260"/>
            <p14:sldId id="261"/>
          </p14:sldIdLst>
        </p14:section>
        <p14:section name="市场落地" id="{4a018671-90fd-8db6-607b-1fa3af0664e7}">
          <p14:sldIdLst>
            <p14:sldId id="262"/>
            <p14:sldId id="263"/>
          </p14:sldIdLst>
        </p14:section>
        <p14:section name="收益与财务" id="{c7ee5491-6831-c3d9-1587-697af3963071}">
          <p14:sldIdLst>
            <p14:sldId id="264"/>
            <p14:sldId id="265"/>
            <p14:sldId id="266"/>
          </p14:sldIdLst>
        </p14:section>
        <p14:section name="行动计划" id="{44fe0c5a-3690-ed4a-0d0c-4ad268b9428c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双方资源互补：中粮海嘉提供面粉与供应链，陈博士团队提供五行特色粉体配方与产品技术。必须强调：合作关系尚待议定，未正式签约。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款产品均为馒头专用预拌粉，25公斤/包。图形为原生形状绘制的色泽示意，非实拍。产品描述仅限色泽、原料与风味，不作功效宣称，符合普通食品标签与广告法规要求。茯苓、山药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产业链：预拌粉供应→经销商→馒头生产企业→终端渠道→消费者。预拌粉的收入来自馒头生产企业的持续复购，终端动销是关键。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福建3,719个潜在渠道据点。必须强调三点：数据由合作伙伴提供；尚未去重；尚未确认进场。分类明细待补，本页表格可直接填入。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三种合作收益模式比较：A供货、B授权、C共同经营。投入与复杂度依次递增。不预设任何一案已获同意，请集团比较后选择。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提案方：五行特色食品预拌粉项目组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以色泽与原料特色形成差异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统一25公斤规格，便于代工厂标准化复购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优质面粉 × 特色配方：一端稳供应，一端造差异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面粉与供应链资源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渠道与客户基础（范围待确认）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陈博士团队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五行特色粉体配方与产品技术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馒头专用预拌粉产品技术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产品研发与工艺指导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特色产品定位与市场推广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303520" y="3886200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互补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五款馒头专用预拌粉，统一25公斤／包</a:t>
            </a:r>
            <a:endParaRPr lang="en-US" sz="3000" dirty="0"/>
          </a:p>
        </p:txBody>
      </p:sp>
      <p:sp>
        <p:nvSpPr>
          <p:cNvPr id="4" name="product-五黑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20240"/>
            <a:ext cx="1371600" cy="1051560"/>
          </a:xfrm>
          <a:prstGeom prst="ellipse">
            <a:avLst/>
          </a:prstGeom>
          <a:solidFill>
            <a:srgbClr val="2F2A27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0432" y="2084832"/>
            <a:ext cx="502920" cy="256032"/>
          </a:xfrm>
          <a:prstGeom prst="ellipse">
            <a:avLst/>
          </a:prstGeom>
          <a:solidFill>
            <a:srgbClr val="5A504A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2944368"/>
            <a:ext cx="1463040" cy="128016"/>
          </a:xfrm>
          <a:prstGeom prst="ellipse">
            <a:avLst/>
          </a:prstGeom>
          <a:solidFill>
            <a:srgbClr val="E3D8C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03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深色系特色馒头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1480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以黑色食材构建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深色外观与风味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3" name="product-五红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45536" y="1920240"/>
            <a:ext cx="1371600" cy="1051560"/>
          </a:xfrm>
          <a:prstGeom prst="ellipse">
            <a:avLst/>
          </a:prstGeom>
          <a:solidFill>
            <a:srgbClr val="A0453A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19856" y="2084832"/>
            <a:ext cx="502920" cy="256032"/>
          </a:xfrm>
          <a:prstGeom prst="ellipse">
            <a:avLst/>
          </a:prstGeom>
          <a:solidFill>
            <a:srgbClr val="C26B5F"/>
          </a:solidFill>
          <a:ln/>
        </p:spPr>
      </p:sp>
      <p:sp>
        <p:nvSpPr>
          <p:cNvPr id="16" name="Shape 14"/>
          <p:cNvSpPr/>
          <p:nvPr/>
        </p:nvSpPr>
        <p:spPr>
          <a:xfrm>
            <a:off x="3099816" y="2944368"/>
            <a:ext cx="1463040" cy="128016"/>
          </a:xfrm>
          <a:prstGeom prst="ellipse">
            <a:avLst/>
          </a:prstGeom>
          <a:solidFill>
            <a:srgbClr val="E3D8C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889504" y="324612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889504" y="3703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红色系特色馒头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11480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以红色食材构建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喜庆色泽与风味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2" name="product-茯苓山药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394960" y="1920240"/>
            <a:ext cx="1371600" cy="1051560"/>
          </a:xfrm>
          <a:prstGeom prst="ellipse">
            <a:avLst/>
          </a:prstGeom>
          <a:solidFill>
            <a:srgbClr val="E6DCC6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0" y="2084832"/>
            <a:ext cx="502920" cy="256032"/>
          </a:xfrm>
          <a:prstGeom prst="ellipse">
            <a:avLst/>
          </a:prstGeom>
          <a:solidFill>
            <a:srgbClr val="F4EEE2"/>
          </a:solidFill>
          <a:ln/>
        </p:spPr>
      </p:sp>
      <p:sp>
        <p:nvSpPr>
          <p:cNvPr id="25" name="Shape 23"/>
          <p:cNvSpPr/>
          <p:nvPr/>
        </p:nvSpPr>
        <p:spPr>
          <a:xfrm>
            <a:off x="5349240" y="2944368"/>
            <a:ext cx="1463040" cy="128016"/>
          </a:xfrm>
          <a:prstGeom prst="ellipse">
            <a:avLst/>
          </a:prstGeom>
          <a:solidFill>
            <a:srgbClr val="E3D8C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38928" y="324612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茯苓山药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138928" y="3703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本色系特色馒头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411480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选用药食同源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目录内原料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1" name="product-姜黄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644384" y="1920240"/>
            <a:ext cx="1371600" cy="1051560"/>
          </a:xfrm>
          <a:prstGeom prst="ellipse">
            <a:avLst/>
          </a:prstGeom>
          <a:solidFill>
            <a:srgbClr val="D39B2E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18704" y="2084832"/>
            <a:ext cx="502920" cy="256032"/>
          </a:xfrm>
          <a:prstGeom prst="ellipse">
            <a:avLst/>
          </a:prstGeom>
          <a:solidFill>
            <a:srgbClr val="E8BD62"/>
          </a:solidFill>
          <a:ln/>
        </p:spPr>
      </p:sp>
      <p:sp>
        <p:nvSpPr>
          <p:cNvPr id="34" name="Shape 32"/>
          <p:cNvSpPr/>
          <p:nvPr/>
        </p:nvSpPr>
        <p:spPr>
          <a:xfrm>
            <a:off x="7598664" y="2944368"/>
            <a:ext cx="1463040" cy="128016"/>
          </a:xfrm>
          <a:prstGeom prst="ellipse">
            <a:avLst/>
          </a:prstGeom>
          <a:solidFill>
            <a:srgbClr val="E3D8C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88352" y="324612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388352" y="3703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金黄色系特色馒头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434072" y="411480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以姜黄构建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金黄色泽与风味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0" name="product-海藻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893808" y="1920240"/>
            <a:ext cx="1371600" cy="1051560"/>
          </a:xfrm>
          <a:prstGeom prst="ellipse">
            <a:avLst/>
          </a:prstGeom>
          <a:solidFill>
            <a:srgbClr val="4F6B4A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168128" y="2084832"/>
            <a:ext cx="502920" cy="256032"/>
          </a:xfrm>
          <a:prstGeom prst="ellipse">
            <a:avLst/>
          </a:prstGeom>
          <a:solidFill>
            <a:srgbClr val="718C6B"/>
          </a:solidFill>
          <a:ln/>
        </p:spPr>
      </p:sp>
      <p:sp>
        <p:nvSpPr>
          <p:cNvPr id="43" name="Shape 41"/>
          <p:cNvSpPr/>
          <p:nvPr/>
        </p:nvSpPr>
        <p:spPr>
          <a:xfrm>
            <a:off x="9848088" y="2944368"/>
            <a:ext cx="1463040" cy="128016"/>
          </a:xfrm>
          <a:prstGeom prst="ellipse">
            <a:avLst/>
          </a:prstGeom>
          <a:solidFill>
            <a:srgbClr val="E3D8C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637776" y="324612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9637776" y="37033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绿色系特色馒头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683496" y="411480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以海藻原料构建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海洋特色风味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注：馒头图形为色泽示意，非实际产品照片；具体配方组成以陈博士团队最终确认为准；按普通食品管理，不作任何保健或功效宣称。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Shape 18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9" name="Shape 25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7" name="Shape 32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馒头生产企业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门店、商超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团餐等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554480"/>
            <a:ext cx="416052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554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陈博士五行配方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1481328" y="2194560"/>
            <a:ext cx="0" cy="32004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36" name="Shape 29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福建市场资源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福建：3,719个潜在渠道据点，作为首个示范市场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0" cy="4206240"/>
          </a:xfrm>
          <a:prstGeom prst="roundRect">
            <a:avLst>
              <a:gd name="adj" fmla="val 190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0528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3,719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个潜在渠道据点（福建省）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84248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984248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99816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099816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5120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渠道据点分类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057400"/>
          <a:ext cx="6858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  <a:gridCol w="29260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渠道类别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据点数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在链路中的角色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馒头 / 包子生产企业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预拌粉直接使用方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经销 / 批发商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区域分销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早餐店及面点门店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现做现售终端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商超 / 农贸市场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零售终端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团餐 / 单位食堂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集中采购终端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其他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3,719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未去重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注：分类为建议框架，各类数量待合作伙伴提供明细后填入；据点数据未经去重、未确认进场意向，不代表已有客户或订单。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三种合作收益模式，供集团比较选择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配方技术授权合作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陈博士团队供应特色粉体，海嘉混配生产与销售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陈博士团队授权配方与工艺，海嘉自主生产销售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双方共同经营产品线，按约定分配利润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技术方收益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授权费 / 按销量提成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中：须配方保护与监督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适用阶段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试点期快速启动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规模化区域复制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长期战略合作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注：本矩阵为讨论用比较框架，三案均未获任何一方同意；具体条款、比例与费率须经双方正式谈判确定。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全年预拌粉成品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注：Q4 10吨为暂定目标；销售计划为提案方目标，非已确认订单。换算：1吨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授权费，或 销量 × 每吨提成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12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13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26280"/>
            <a:ext cx="640080" cy="6400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417320" y="43891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五行特色食品预拌粉产业合作计划</dc:title>
  <dc:subject>DR-002 商业合作简报 V1.0</dc:subject>
  <dc:creator>五行特色食品预拌粉项目组</dc:creator>
  <cp:lastModifiedBy>五行特色食品预拌粉项目组</cp:lastModifiedBy>
  <cp:revision>1</cp:revision>
  <dcterms:created xsi:type="dcterms:W3CDTF">2026-10-29T15:05:20Z</dcterms:created>
  <dcterms:modified xsi:type="dcterms:W3CDTF">2026-10-29T15:05:20Z</dcterms:modified>
</cp:coreProperties>
</file>