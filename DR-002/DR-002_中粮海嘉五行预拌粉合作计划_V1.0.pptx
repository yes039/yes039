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篇" id="{5b4cd455-d369-d55e-d5f2-9a995f6eec83}">
          <p14:sldIdLst>
            <p14:sldId id="256"/>
          </p14:sldIdLst>
        </p14:section>
        <p14:section name="合作基础" id="{0504d82c-24af-7893-bc03-3f5489cf6e2b}">
          <p14:sldIdLst>
            <p14:sldId id="257"/>
            <p14:sldId id="258"/>
          </p14:sldIdLst>
        </p14:section>
        <p14:section name="产品与模式" id="{7a9a400c-cd81-e19f-d84a-f60aa508c37e}">
          <p14:sldIdLst>
            <p14:sldId id="259"/>
            <p14:sldId id="260"/>
            <p14:sldId id="261"/>
          </p14:sldIdLst>
        </p14:section>
        <p14:section name="市场落地" id="{88f2d14c-300c-dd7e-7f18-2f8bf3bab5b5}">
          <p14:sldIdLst>
            <p14:sldId id="262"/>
            <p14:sldId id="263"/>
          </p14:sldIdLst>
        </p14:section>
        <p14:section name="收益与财务" id="{6dc89c45-60e4-9c46-2c91-0881fa20f2c8}">
          <p14:sldIdLst>
            <p14:sldId id="264"/>
            <p14:sldId id="265"/>
            <p14:sldId id="266"/>
          </p14:sldIdLst>
        </p14:section>
        <p14:section name="行动计划" id="{2098f197-57e5-bdb4-bf60-ceb32ea77a25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534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5340"/>
                </a:solidFill>
                <a:latin typeface="+mn-lt"/>
              </a:rPr>
              <a:t>季度销量（吨）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季度销量（吨）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0&quot;吨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3B2A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Q4（暂定）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numFmt formatCode="0&quot;吨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3B2A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53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9525" cap="flat">
              <a:solidFill>
                <a:srgbClr val="EADF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34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封面。本简报为合作提案讨论稿，所有合作关系、收益模式与价格均待双方议定，不代表任何一方已作出承诺。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核心信息：传统面粉供应可以向“专用预拌粉→特色主食”延伸，获得差异化与附加值。本页不引用任何未经核实的市场规模数据。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双方资源互补：中粮海嘉提供面粉及相关产业资源，陈博士提供五行特色粉体配方，双方合作开发五行预拌粉。五行特色粉体由谁生产尚待议定。必须强调：合作关系尚待议定，未正式签约。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款产品均为馒头专用预拌粉，25公斤/包。图形为原生形状绘制的色泽示意，非实拍。产品描述仅限色泽、原料与风味，不作功效宣称，符合普通食品标签与广告法规要求。茯苓、山药、姜黄是否在适用的药食同源目录及使用范围内，须合规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生产流程：五行特色粉体＋面粉＋必要食品原料，经标准化混粉、品质检验、25公斤包装。生产主体资质（SC许可）、检验标准须在试产前核实。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产业链：预拌粉供应→原料经销商→馒头生产厂→终端渠道→消费者。B2B直接销售对象为原料经销商及馒头生产厂；福建3,719个据点属于潜在终端渠道资源，尚未去重及确认进场，不是直接客户。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福建3,719个潜在终端渠道据点，不是B2B直接客户（直接客户为原料经销商及馒头生产厂）。必须强调三点：数据由合作伙伴提供；尚未去重；尚未确认进场。分类明细待补，本页表格可直接填入。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四家候选代工厂试点：打样→试产→试吃→成本确认→首批订单→重复采购。不得宣称已有正式采购合约。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三种合作收益模式并列：A供货、B授权、C共同经营。不预设任何一案已获双方同意，也不作推荐。五行特色粉体生产方尚待议定。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第一年30吨五行预拌粉成品（不是五行特色粉体）：Q1 5吨、Q2 5吨、Q3 10吨、Q4暂定10吨，合计1,200包（25公斤/包，每吨40包）。均为目标，非已确认订单。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财务结构：营收=销量×单价；成本=面粉+特色粉体+辅料+加工+包装+检验+物流；毛利=营收−成本。三种模式的收益算法各不相同。未取得正式报价前，不编造价格、ROI或利润。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90天验证：产品研发、食品合规、试产、渠道测试、首批订单验证。里程碑：D30配方定型、D60试产合格、D90首批订单。排期为建议，待双方确认。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扩张路径：福建示范→山东、上海、北京、广东等区域；品类由馒头延伸至包子、面包、面条、饺子皮及早餐模式。均为后续方向，需另行验证，不设时间与规模承诺。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决策请求：评估合作意愿、指定对接窗口、确认试产资源、选择合作收益模式、启动90天验证。结尾主张：以五行配方赋能优质面粉，共建特色主食产业新生态。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DR-002 · 中粮海嘉 × 五行特色食品预拌粉产业合作计划 · 讨论稿 V1.0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DR-002 · 商业合作提案 V1.0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中粮海嘉 × 五行特色食品预拌粉产业合作计划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从优质面粉到特色主食产业链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4800600"/>
            <a:ext cx="10515600" cy="0"/>
          </a:xfrm>
          <a:prstGeom prst="line">
            <a:avLst/>
          </a:prstGeom>
          <a:noFill/>
          <a:ln w="9525">
            <a:solidFill>
              <a:srgbClr val="7A5C4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983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呈送：中粮海嘉集团管理层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提案方：五行特色食品预拌粉项目组　　2026年10月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合作讨论稿 · 不构成任何一方承诺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01 · 合作机会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从通用面粉，走向差异化、高附加值的特色预拌粉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2331720" cy="14173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通用面粉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360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标准化大宗供应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竞争焦点在规模与价格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3063240"/>
            <a:ext cx="2331720" cy="2331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4612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馒头专用预拌粉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37216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配方前置、即开即用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帮助客户稳定品质、简化工序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148840"/>
            <a:ext cx="2331720" cy="3246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072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五行特色主食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8072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以色泽与原料特色形成差异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带动终端产品识别度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附加值提升 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291840" cy="379476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9536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合作切入点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95360" y="22860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延伸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26771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在既有面粉供应基础上，向下游延伸一层产品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95360" y="32918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95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差异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27355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以五款特色配方避开同质化价格竞争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53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复制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427939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统一25公斤规格，便于馒头生产厂标准化复购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注：本页为商业逻辑示意，未引用市场规模数据；如需量化，须以权威统计或第三方调研为准。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· 双方资源互补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中粮海嘉面粉 × 陈博士配方，合作开发五行预拌粉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0" cy="4206240"/>
          </a:xfrm>
          <a:prstGeom prst="roundRect">
            <a:avLst>
              <a:gd name="adj" fmla="val 173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中粮海嘉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面粉及相关产业资源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301752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8016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优质面粉原料供应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60120" y="367588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80160" y="3584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生产与品控体系衔接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60120" y="4334256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80160" y="4242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仓储物流与供应链网络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60120" y="4992624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80160" y="4901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相关产业资源（范围待确认）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068312" y="1600200"/>
            <a:ext cx="4572000" cy="4206240"/>
          </a:xfrm>
          <a:prstGeom prst="roundRect">
            <a:avLst>
              <a:gd name="adj" fmla="val 173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88352" y="18288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547" y="2018995"/>
            <a:ext cx="351130" cy="35113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302752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陈博士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8302752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五行特色粉体配方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479792" y="3017520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799832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五行特色粉体配方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7479792" y="3675888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799832" y="3584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预拌粉配方与工艺指导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7479792" y="4334256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799832" y="4242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五款产品研发与定型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7479792" y="4992624"/>
            <a:ext cx="146304" cy="14630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799832" y="4901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特色产品定位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541264" y="2697480"/>
            <a:ext cx="1097280" cy="10972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557" y="2982773"/>
            <a:ext cx="526694" cy="52669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239512" y="379476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合作开发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五行预拌粉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5239512" y="4343400"/>
            <a:ext cx="1709928" cy="685800"/>
          </a:xfrm>
          <a:prstGeom prst="roundRect">
            <a:avLst>
              <a:gd name="adj" fmla="val 10667"/>
            </a:avLst>
          </a:prstGeom>
          <a:solidFill>
            <a:schemeClr val="accent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239512" y="4343400"/>
            <a:ext cx="1709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合作关系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尚待议定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注：双方尚未签署任何合作协议；中粮海嘉相关资源的具体范围以集团正式确认为准；五行特色粉体由谁生产尚待议定。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· 五大产品矩阵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五款馒头专用预拌粉，统一25公斤／包</a:t>
            </a:r>
            <a:endParaRPr lang="en-US" sz="3000" dirty="0"/>
          </a:p>
        </p:txBody>
      </p:sp>
      <p:sp>
        <p:nvSpPr>
          <p:cNvPr id="4" name="product-五黑"/>
          <p:cNvSpPr/>
          <p:nvPr/>
        </p:nvSpPr>
        <p:spPr>
          <a:xfrm>
            <a:off x="548640" y="1600200"/>
            <a:ext cx="2066544" cy="4160520"/>
          </a:xfrm>
          <a:prstGeom prst="roundRect">
            <a:avLst>
              <a:gd name="adj" fmla="val 35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20240"/>
            <a:ext cx="1371600" cy="1051560"/>
          </a:xfrm>
          <a:prstGeom prst="ellipse">
            <a:avLst/>
          </a:prstGeom>
          <a:solidFill>
            <a:srgbClr val="2F2A27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432" y="2084832"/>
            <a:ext cx="502920" cy="256032"/>
          </a:xfrm>
          <a:prstGeom prst="ellipse">
            <a:avLst/>
          </a:prstGeom>
          <a:solidFill>
            <a:srgbClr val="5A504A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2944368"/>
            <a:ext cx="1463040" cy="128016"/>
          </a:xfrm>
          <a:prstGeom prst="ellipse">
            <a:avLst/>
          </a:prstGeom>
          <a:solidFill>
            <a:srgbClr val="E3D8C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461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五黑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03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深色系特色馒头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148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以黑色食材构建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深色外观与风味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517904" cy="0"/>
          </a:xfrm>
          <a:prstGeom prst="line">
            <a:avLst/>
          </a:prstGeom>
          <a:noFill/>
          <a:ln w="9525">
            <a:solidFill>
              <a:srgbClr val="EADFC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5029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馒头专用 · 25kg/包</a:t>
            </a:r>
            <a:endParaRPr lang="en-US" sz="1200" dirty="0"/>
          </a:p>
        </p:txBody>
      </p:sp>
      <p:sp>
        <p:nvSpPr>
          <p:cNvPr id="13" name="product-五红"/>
          <p:cNvSpPr/>
          <p:nvPr/>
        </p:nvSpPr>
        <p:spPr>
          <a:xfrm>
            <a:off x="2798064" y="1600200"/>
            <a:ext cx="2066544" cy="4160520"/>
          </a:xfrm>
          <a:prstGeom prst="roundRect">
            <a:avLst>
              <a:gd name="adj" fmla="val 35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45536" y="1920240"/>
            <a:ext cx="1371600" cy="1051560"/>
          </a:xfrm>
          <a:prstGeom prst="ellipse">
            <a:avLst/>
          </a:prstGeom>
          <a:solidFill>
            <a:srgbClr val="A0453A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9856" y="2084832"/>
            <a:ext cx="502920" cy="256032"/>
          </a:xfrm>
          <a:prstGeom prst="ellipse">
            <a:avLst/>
          </a:prstGeom>
          <a:solidFill>
            <a:srgbClr val="C26B5F"/>
          </a:solidFill>
          <a:ln/>
        </p:spPr>
      </p:sp>
      <p:sp>
        <p:nvSpPr>
          <p:cNvPr id="16" name="Shape 14"/>
          <p:cNvSpPr/>
          <p:nvPr/>
        </p:nvSpPr>
        <p:spPr>
          <a:xfrm>
            <a:off x="3099816" y="2944368"/>
            <a:ext cx="1463040" cy="128016"/>
          </a:xfrm>
          <a:prstGeom prst="ellipse">
            <a:avLst/>
          </a:prstGeom>
          <a:solidFill>
            <a:srgbClr val="E3D8C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889504" y="32461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五红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889504" y="3703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红色系特色馒头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935224" y="41148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以红色食材构建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喜庆色泽与风味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72384" y="4892040"/>
            <a:ext cx="1517904" cy="0"/>
          </a:xfrm>
          <a:prstGeom prst="line">
            <a:avLst/>
          </a:prstGeom>
          <a:noFill/>
          <a:ln w="9525">
            <a:solidFill>
              <a:srgbClr val="EADF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89504" y="5029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馒头专用 · 25kg/包</a:t>
            </a:r>
            <a:endParaRPr lang="en-US" sz="1200" dirty="0"/>
          </a:p>
        </p:txBody>
      </p:sp>
      <p:sp>
        <p:nvSpPr>
          <p:cNvPr id="22" name="product-茯苓山药"/>
          <p:cNvSpPr/>
          <p:nvPr/>
        </p:nvSpPr>
        <p:spPr>
          <a:xfrm>
            <a:off x="5047488" y="1600200"/>
            <a:ext cx="2066544" cy="4160520"/>
          </a:xfrm>
          <a:prstGeom prst="roundRect">
            <a:avLst>
              <a:gd name="adj" fmla="val 35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1920240"/>
            <a:ext cx="1371600" cy="1051560"/>
          </a:xfrm>
          <a:prstGeom prst="ellipse">
            <a:avLst/>
          </a:prstGeom>
          <a:solidFill>
            <a:srgbClr val="E6DCC6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2084832"/>
            <a:ext cx="502920" cy="256032"/>
          </a:xfrm>
          <a:prstGeom prst="ellipse">
            <a:avLst/>
          </a:prstGeom>
          <a:solidFill>
            <a:srgbClr val="F4EEE2"/>
          </a:solidFill>
          <a:ln/>
        </p:spPr>
      </p:sp>
      <p:sp>
        <p:nvSpPr>
          <p:cNvPr id="25" name="Shape 23"/>
          <p:cNvSpPr/>
          <p:nvPr/>
        </p:nvSpPr>
        <p:spPr>
          <a:xfrm>
            <a:off x="5349240" y="2944368"/>
            <a:ext cx="1463040" cy="128016"/>
          </a:xfrm>
          <a:prstGeom prst="ellipse">
            <a:avLst/>
          </a:prstGeom>
          <a:solidFill>
            <a:srgbClr val="E3D8C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38928" y="32461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茯苓山药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138928" y="3703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本色系特色馒头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84648" y="41148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选用药食同源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目录内原料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21808" y="4892040"/>
            <a:ext cx="1517904" cy="0"/>
          </a:xfrm>
          <a:prstGeom prst="line">
            <a:avLst/>
          </a:prstGeom>
          <a:noFill/>
          <a:ln w="9525">
            <a:solidFill>
              <a:srgbClr val="EADFC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38928" y="5029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馒头专用 · 25kg/包</a:t>
            </a:r>
            <a:endParaRPr lang="en-US" sz="1200" dirty="0"/>
          </a:p>
        </p:txBody>
      </p:sp>
      <p:sp>
        <p:nvSpPr>
          <p:cNvPr id="31" name="product-姜黄"/>
          <p:cNvSpPr/>
          <p:nvPr/>
        </p:nvSpPr>
        <p:spPr>
          <a:xfrm>
            <a:off x="7296912" y="1600200"/>
            <a:ext cx="2066544" cy="4160520"/>
          </a:xfrm>
          <a:prstGeom prst="roundRect">
            <a:avLst>
              <a:gd name="adj" fmla="val 35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44384" y="1920240"/>
            <a:ext cx="1371600" cy="1051560"/>
          </a:xfrm>
          <a:prstGeom prst="ellipse">
            <a:avLst/>
          </a:prstGeom>
          <a:solidFill>
            <a:srgbClr val="D39B2E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18704" y="2084832"/>
            <a:ext cx="502920" cy="256032"/>
          </a:xfrm>
          <a:prstGeom prst="ellipse">
            <a:avLst/>
          </a:prstGeom>
          <a:solidFill>
            <a:srgbClr val="E8BD62"/>
          </a:solidFill>
          <a:ln/>
        </p:spPr>
      </p:sp>
      <p:sp>
        <p:nvSpPr>
          <p:cNvPr id="34" name="Shape 32"/>
          <p:cNvSpPr/>
          <p:nvPr/>
        </p:nvSpPr>
        <p:spPr>
          <a:xfrm>
            <a:off x="7598664" y="2944368"/>
            <a:ext cx="1463040" cy="128016"/>
          </a:xfrm>
          <a:prstGeom prst="ellipse">
            <a:avLst/>
          </a:prstGeom>
          <a:solidFill>
            <a:srgbClr val="E3D8C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88352" y="32461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姜黄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7388352" y="3703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金黄色系特色馒头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434072" y="41148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以姜黄构建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金黄色泽与风味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71232" y="4892040"/>
            <a:ext cx="1517904" cy="0"/>
          </a:xfrm>
          <a:prstGeom prst="line">
            <a:avLst/>
          </a:prstGeom>
          <a:noFill/>
          <a:ln w="9525">
            <a:solidFill>
              <a:srgbClr val="EADFC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88352" y="5029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馒头专用 · 25kg/包</a:t>
            </a:r>
            <a:endParaRPr lang="en-US" sz="1200" dirty="0"/>
          </a:p>
        </p:txBody>
      </p:sp>
      <p:sp>
        <p:nvSpPr>
          <p:cNvPr id="40" name="product-海藻"/>
          <p:cNvSpPr/>
          <p:nvPr/>
        </p:nvSpPr>
        <p:spPr>
          <a:xfrm>
            <a:off x="9546336" y="1600200"/>
            <a:ext cx="2066544" cy="4160520"/>
          </a:xfrm>
          <a:prstGeom prst="roundRect">
            <a:avLst>
              <a:gd name="adj" fmla="val 354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893808" y="1920240"/>
            <a:ext cx="1371600" cy="1051560"/>
          </a:xfrm>
          <a:prstGeom prst="ellipse">
            <a:avLst/>
          </a:prstGeom>
          <a:solidFill>
            <a:srgbClr val="4F6B4A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68128" y="2084832"/>
            <a:ext cx="502920" cy="256032"/>
          </a:xfrm>
          <a:prstGeom prst="ellipse">
            <a:avLst/>
          </a:prstGeom>
          <a:solidFill>
            <a:srgbClr val="718C6B"/>
          </a:solidFill>
          <a:ln/>
        </p:spPr>
      </p:sp>
      <p:sp>
        <p:nvSpPr>
          <p:cNvPr id="43" name="Shape 41"/>
          <p:cNvSpPr/>
          <p:nvPr/>
        </p:nvSpPr>
        <p:spPr>
          <a:xfrm>
            <a:off x="9848088" y="2944368"/>
            <a:ext cx="1463040" cy="128016"/>
          </a:xfrm>
          <a:prstGeom prst="ellipse">
            <a:avLst/>
          </a:prstGeom>
          <a:solidFill>
            <a:srgbClr val="E3D8C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637776" y="324612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海藻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9637776" y="370332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绿色系特色馒头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9683496" y="4114800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以海藻原料构建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海洋特色风味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820656" y="4892040"/>
            <a:ext cx="1517904" cy="0"/>
          </a:xfrm>
          <a:prstGeom prst="line">
            <a:avLst/>
          </a:prstGeom>
          <a:noFill/>
          <a:ln w="9525">
            <a:solidFill>
              <a:srgbClr val="EADFC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37776" y="5029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馒头专用 · 25kg/包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注：馒头图形为色泽示意，非实际产品照片；具体配方组成以陈博士最终确认为准；按普通食品管理，不作任何保健或功效宣称。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04 · 产品生产流程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四步标准化，确保每一包品质一致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901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五行特色粉体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88720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生产方待议定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+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优质面粉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886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+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" y="4206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必要食品原料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246120" y="1828800"/>
            <a:ext cx="320040" cy="3246120"/>
          </a:xfrm>
          <a:prstGeom prst="rightBrace">
            <a:avLst/>
          </a:prstGeom>
          <a:noFill/>
          <a:ln w="15875">
            <a:solidFill>
              <a:srgbClr val="7A5C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2057400"/>
            <a:ext cx="2103120" cy="27889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2860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7915" y="2476195"/>
            <a:ext cx="351130" cy="35113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069080" y="21945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0690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02336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标准化混粉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3703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按定型配方比例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均匀混配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89904" y="3291840"/>
            <a:ext cx="384048" cy="29260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3" name="Shape 20"/>
          <p:cNvSpPr/>
          <p:nvPr/>
        </p:nvSpPr>
        <p:spPr>
          <a:xfrm>
            <a:off x="6537960" y="2057400"/>
            <a:ext cx="2103120" cy="27889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223760" y="22860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2476195"/>
            <a:ext cx="351130" cy="35113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675120" y="21945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751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62940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品质检验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6629400" y="3703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按适用食品安全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国家标准检验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8695944" y="3291840"/>
            <a:ext cx="384048" cy="29260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1" name="Shape 27"/>
          <p:cNvSpPr/>
          <p:nvPr/>
        </p:nvSpPr>
        <p:spPr>
          <a:xfrm>
            <a:off x="9144000" y="2057400"/>
            <a:ext cx="2103120" cy="27889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9829800" y="22860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9995" y="2476195"/>
            <a:ext cx="351130" cy="35113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9281160" y="21945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92811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9235440" y="3200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25公斤包装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9235440" y="3703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统一规格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标识、批次可追溯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3584448" y="3291840"/>
            <a:ext cx="292608" cy="29260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9" name="Shape 34"/>
          <p:cNvSpPr/>
          <p:nvPr/>
        </p:nvSpPr>
        <p:spPr>
          <a:xfrm>
            <a:off x="3931920" y="5120640"/>
            <a:ext cx="731520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5257800"/>
            <a:ext cx="384048" cy="384048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4663440" y="51206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合规前提：生产主体须具备相应食品生产许可（SC），原料与产品须符合食品安全国家标准——资质待逐项核实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05 · 产业商业模式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一条链路，打通从预拌粉到消费者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874520" cy="2423160"/>
          </a:xfrm>
          <a:prstGeom prst="roundRect">
            <a:avLst>
              <a:gd name="adj" fmla="val 390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69748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362" y="28995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3611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预拌粉供应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69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面粉 + 特色粉体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标准化成品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87168" y="3584448"/>
            <a:ext cx="292608" cy="29260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Shape 7"/>
          <p:cNvSpPr/>
          <p:nvPr/>
        </p:nvSpPr>
        <p:spPr>
          <a:xfrm>
            <a:off x="2843784" y="2514600"/>
            <a:ext cx="1874520" cy="242316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92424" y="26974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506" y="289956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89504" y="3611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原料经销商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935224" y="4069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区域分销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覆盖与配送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82312" y="3584448"/>
            <a:ext cx="292608" cy="29260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Shape 12"/>
          <p:cNvSpPr/>
          <p:nvPr/>
        </p:nvSpPr>
        <p:spPr>
          <a:xfrm>
            <a:off x="5138928" y="2514600"/>
            <a:ext cx="1874520" cy="242316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87568" y="26974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50" y="289956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84648" y="3611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馒头生产厂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230368" y="4069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使用预拌粉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生产特色馒头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077456" y="3584448"/>
            <a:ext cx="292608" cy="29260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2" name="Shape 17"/>
          <p:cNvSpPr/>
          <p:nvPr/>
        </p:nvSpPr>
        <p:spPr>
          <a:xfrm>
            <a:off x="7434072" y="2514600"/>
            <a:ext cx="1874520" cy="242316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82712" y="26974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794" y="2899562"/>
            <a:ext cx="373075" cy="37307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79792" y="3611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终端渠道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525512" y="4069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3,719个潜在据点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属于此环节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372600" y="3584448"/>
            <a:ext cx="292608" cy="292608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8" name="Shape 22"/>
          <p:cNvSpPr/>
          <p:nvPr/>
        </p:nvSpPr>
        <p:spPr>
          <a:xfrm>
            <a:off x="9729216" y="2514600"/>
            <a:ext cx="1874520" cy="242316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77856" y="269748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938" y="2899562"/>
            <a:ext cx="373075" cy="37307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74936" y="3611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消费者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820656" y="40690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购买与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复购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48640" y="1417320"/>
            <a:ext cx="416052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73152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上游：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中粮海嘉面粉 + 陈博士配方，合作开发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2843784" y="2011680"/>
            <a:ext cx="4169664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2843784" y="201168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B2B 直接销售对象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7434072" y="2011680"/>
            <a:ext cx="4169664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7434072" y="2011680"/>
            <a:ext cx="416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下游终端（间接拉动，非直接客户）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1481328" y="1920240"/>
            <a:ext cx="0" cy="594360"/>
          </a:xfrm>
          <a:prstGeom prst="line">
            <a:avLst/>
          </a:prstGeom>
          <a:noFill/>
          <a:ln w="15875">
            <a:solidFill>
              <a:srgbClr val="7A5C43"/>
            </a:solidFill>
            <a:prstDash val="solid"/>
            <a:tailEnd type="triangle"/>
          </a:ln>
        </p:spPr>
      </p:sp>
      <p:sp>
        <p:nvSpPr>
          <p:cNvPr id="40" name="Shape 33"/>
          <p:cNvSpPr/>
          <p:nvPr/>
        </p:nvSpPr>
        <p:spPr>
          <a:xfrm>
            <a:off x="548640" y="5212080"/>
            <a:ext cx="11064240" cy="457200"/>
          </a:xfrm>
          <a:prstGeom prst="leftArrow">
            <a:avLst/>
          </a:prstGeom>
          <a:solidFill>
            <a:schemeClr val="accent4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订单与回款逐级回流 · 终端复购拉动预拌粉持续采购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06 · 福建市场资源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福建：3,719个潜在终端渠道据点，支撑示范市场动销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0" cy="4206240"/>
          </a:xfrm>
          <a:prstGeom prst="roundRect">
            <a:avLst>
              <a:gd name="adj" fmla="val 190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3,719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个潜在终端渠道据点（福建省）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457200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5720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合作伙伴提供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84248" y="457200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984248" y="45720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尚未去重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99816" y="457200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099816" y="45720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尚未确认进场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数据口径以合作伙伴原始清单为准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4709160"/>
            <a:ext cx="6858000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37760" y="470916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客户定位：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B2B 直接销售对象为原料经销商及馒头生产厂；3,719个据点是馒头产品的潜在终端渠道资源，用于带动下游动销，不是预拌粉的直接客户。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终端渠道据点分类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05740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渠道类别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据点数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在链路中的角色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早餐店及面点门店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待填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现做现售终端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商超 / 农贸市场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待填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零售终端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团餐 / 单位食堂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待填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集中采购终端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其他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待填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合计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3,719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未去重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注：分类为建议框架，各类数量待合作伙伴提供明细后填入；据点数据未经去重、未确认进场，不代表已有客户或订单。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07 · 候选代工厂试点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四家候选代工厂，六步验证走向重复采购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0071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28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候选代工厂 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128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名称与资质待确认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64992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18288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20071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16552" y="1828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候选代工厂 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16552" y="22128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名称与资质待确认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1344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9944" y="18288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20071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32904" y="1828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候选代工厂 C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232904" y="22128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名称与资质待确认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97696" y="1600200"/>
            <a:ext cx="26060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6296" y="18288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604" y="20071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049256" y="1828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候选代工厂 D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0049256" y="22128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名称与资质待确认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154680"/>
            <a:ext cx="1892808" cy="868680"/>
          </a:xfrm>
          <a:prstGeom prst="homePlate">
            <a:avLst/>
          </a:prstGeom>
          <a:solidFill>
            <a:schemeClr val="accent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77240" y="3154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打样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4206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按五款配方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制作样品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2404872" y="3154680"/>
            <a:ext cx="1892808" cy="86868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2633472" y="3154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试产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2496312" y="4206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代工厂产线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小批量试制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261104" y="3154680"/>
            <a:ext cx="1892808" cy="86868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4489704" y="3154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试吃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4352544" y="4206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收集口感与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外观反馈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117336" y="3154680"/>
            <a:ext cx="1892808" cy="86868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6345936" y="3154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成本确认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6208776" y="4206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核算原料与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加工成本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973568" y="3154680"/>
            <a:ext cx="1892808" cy="8686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202168" y="3154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首批订单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8065008" y="4206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确认首批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采购意向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9829800" y="3154680"/>
            <a:ext cx="1892808" cy="86868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10058400" y="31546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重复采购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9921240" y="4206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稳定复购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形成样板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产品验证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7973568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商业验证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548640" y="53949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77724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当前状态：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四家均为候选试点对象，尚无正式采购合约；进入每一步须以上一步结果为准。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08 · 三种合作收益模式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三种合作收益模式并列，供双方比较议定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05456" y="1554480"/>
            <a:ext cx="2971800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2651760" y="1682496"/>
            <a:ext cx="475488" cy="47548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51760" y="1682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554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特色粉体供货合作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50408" y="1554480"/>
            <a:ext cx="2971800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 7"/>
          <p:cNvSpPr/>
          <p:nvPr/>
        </p:nvSpPr>
        <p:spPr>
          <a:xfrm>
            <a:off x="5696712" y="1682496"/>
            <a:ext cx="475488" cy="47548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96712" y="1682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91072" y="1554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配方技术授权合作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95360" y="1554480"/>
            <a:ext cx="2971800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Shape 11"/>
          <p:cNvSpPr/>
          <p:nvPr/>
        </p:nvSpPr>
        <p:spPr>
          <a:xfrm>
            <a:off x="8741664" y="1682496"/>
            <a:ext cx="475488" cy="47548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41664" y="1682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336024" y="1554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共同经营利润分配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55096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44952"/>
                <a:gridCol w="3044952"/>
                <a:gridCol w="304495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合作方式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按约定供应五行特色粉体，用于预拌粉生产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陈博士授权五行特色粉体配方与工艺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双方共同经营五行预拌粉，按约定分配利润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收益来源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粉体供货收入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授权费 / 按销量提成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共同经营利润分成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双方投入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低 — 中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中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高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管理复杂度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低：供销关系清晰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中：须配方保护与监督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高：须共管机制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待议定要点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粉体生产方、供货价格与数量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授权范围、费率与配方保护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出资、共管机制与分配比例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注：三案并列、无先后与推荐顺序，均未获双方同意；五行特色粉体由谁生产尚待议定；具体条款须经双方正式谈判确定。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09 · 第一年销售计划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第一年目标：30吨五行预拌粉成品，合1,200包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4904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092440" y="16642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30吨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3042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全年五行预拌粉成品（非特色粉体）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63840" y="2926080"/>
            <a:ext cx="374904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30358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1,200包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按25公斤 / 包换算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4343400"/>
          <a:ext cx="37490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777240"/>
                <a:gridCol w="868680"/>
                <a:gridCol w="9601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季度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吨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包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累计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5吨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Q2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10吨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Q3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20吨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Q4 暂定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30吨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注：30吨指五行预拌粉成品，不是五行特色粉体；Q4 10吨为暂定；为提案方目标，非已确认订单。1吨 = 40包（25公斤 / 包）。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10 · 财务与获利逻辑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获利结构已明确，价格与利润待正式报价后测算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55648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556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营收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099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销量（吨）× 出厂单价（元 / 吨）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214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30吨五行预拌粉成品 ×［待报价］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67665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834640"/>
            <a:ext cx="603504" cy="60350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834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成本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7889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面粉 + 特色粉体 + 辅料 + 混配加工 + 包装 + 检验 + 物流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200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各项单价［待报价］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67665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913632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9136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毛利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8679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营收 − 成本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793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［待测算］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1600200"/>
            <a:ext cx="3931920" cy="3072384"/>
          </a:xfrm>
          <a:prstGeom prst="roundRect">
            <a:avLst>
              <a:gd name="adj" fmla="val 238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095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三种模式的收益计算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09560" y="23317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095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粉体供货量 × 粉体单价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09560" y="30815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0956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08152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授权费，或 销量 × 每吨提成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09560" y="383133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0956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38313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共同经营净利 × 约定分配比例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166360"/>
            <a:ext cx="457200" cy="45720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417320" y="4937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测算前置条件：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取得面粉、特色粉体、代工加工及物流的正式报价后，方可计算单价、毛利率与投资回报；本简报不预估任何价格或利润。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11 · 90天合作验证计划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90天，用五项验证回答“能不能做、值不值得做”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36392" y="1554480"/>
            <a:ext cx="2779776" cy="5486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10896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第1–30天  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研发与合规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71032" y="1554480"/>
            <a:ext cx="2779776" cy="5486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第31–60天  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试产与试吃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05672" y="1554480"/>
            <a:ext cx="2779776" cy="5486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第61–90天  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渠道与订单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产品研发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08960" y="2880360"/>
            <a:ext cx="8503920" cy="0"/>
          </a:xfrm>
          <a:prstGeom prst="line">
            <a:avLst/>
          </a:prstGeom>
          <a:noFill/>
          <a:ln w="6350">
            <a:solidFill>
              <a:srgbClr val="EADF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2386584"/>
            <a:ext cx="283464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18688" y="2386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五款配方定型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953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食品合规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08960" y="3502152"/>
            <a:ext cx="8503920" cy="0"/>
          </a:xfrm>
          <a:prstGeom prst="line">
            <a:avLst/>
          </a:prstGeom>
          <a:noFill/>
          <a:ln w="6350">
            <a:solidFill>
              <a:srgbClr val="EADF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3008376"/>
            <a:ext cx="425196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18688" y="30083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原料、标签与资质核查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75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试产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108960" y="4123944"/>
            <a:ext cx="8503920" cy="0"/>
          </a:xfrm>
          <a:prstGeom prst="line">
            <a:avLst/>
          </a:prstGeom>
          <a:noFill/>
          <a:ln w="6350">
            <a:solidFill>
              <a:srgbClr val="EADF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3630168"/>
            <a:ext cx="283464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53328" y="3630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候选代工厂小批量试产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1970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渠道测试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08960" y="4745736"/>
            <a:ext cx="8503920" cy="0"/>
          </a:xfrm>
          <a:prstGeom prst="line">
            <a:avLst/>
          </a:prstGeom>
          <a:noFill/>
          <a:ln w="6350">
            <a:solidFill>
              <a:srgbClr val="EADF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4251960"/>
            <a:ext cx="3307080" cy="36576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70648" y="425196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福建渠道试吃与反馈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18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首批订单验证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108960" y="5367528"/>
            <a:ext cx="8503920" cy="0"/>
          </a:xfrm>
          <a:prstGeom prst="line">
            <a:avLst/>
          </a:prstGeom>
          <a:noFill/>
          <a:ln w="6350">
            <a:solidFill>
              <a:srgbClr val="EADF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0" y="4873752"/>
            <a:ext cx="283464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887968" y="4873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首批订单与复购意向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88152" y="5486400"/>
            <a:ext cx="310896" cy="310896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80560" y="548640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D30 配方定型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22792" y="5486400"/>
            <a:ext cx="310896" cy="310896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15200" y="548640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D60 试产合格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457432" y="5486400"/>
            <a:ext cx="310896" cy="310896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149840" y="548640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D90 首批订单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注：各工作项起止时间为建议排期，须待双方确认启动日期及资源后定稿。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12 · 未来产业扩张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福建验证成功后，区域复制与品类延伸双线推进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区域复制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011680" cy="20116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福建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示范市场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 flipV="1">
            <a:off x="2651760" y="2450592"/>
            <a:ext cx="1097280" cy="1207008"/>
          </a:xfrm>
          <a:prstGeom prst="line">
            <a:avLst/>
          </a:prstGeom>
          <a:noFill/>
          <a:ln w="15875">
            <a:solidFill>
              <a:srgbClr val="D9B5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94760" y="214884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230428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297680" y="214884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山东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flipV="1">
            <a:off x="2651760" y="3410712"/>
            <a:ext cx="1097280" cy="246888"/>
          </a:xfrm>
          <a:prstGeom prst="line">
            <a:avLst/>
          </a:prstGeom>
          <a:noFill/>
          <a:ln w="15875">
            <a:solidFill>
              <a:srgbClr val="D9B56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794760" y="310896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326440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97680" y="310896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上海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651760" y="3657600"/>
            <a:ext cx="1097280" cy="713232"/>
          </a:xfrm>
          <a:prstGeom prst="line">
            <a:avLst/>
          </a:prstGeom>
          <a:noFill/>
          <a:ln w="15875">
            <a:solidFill>
              <a:srgbClr val="D9B56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794760" y="406908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2245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97680" y="406908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北京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2651760" y="3657600"/>
            <a:ext cx="1097280" cy="1673352"/>
          </a:xfrm>
          <a:prstGeom prst="line">
            <a:avLst/>
          </a:prstGeom>
          <a:noFill/>
          <a:ln w="15875">
            <a:solidFill>
              <a:srgbClr val="D9B56A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3794760" y="5029200"/>
            <a:ext cx="173736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518464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297680" y="502920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广东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794760" y="5852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等更多区域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品类延伸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6309360" y="2057400"/>
            <a:ext cx="53035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6537960" y="2057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现阶段：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五行馒头专用预拌粉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8778240" y="2971800"/>
            <a:ext cx="365760" cy="365760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28" name="Shape 22"/>
          <p:cNvSpPr/>
          <p:nvPr/>
        </p:nvSpPr>
        <p:spPr>
          <a:xfrm>
            <a:off x="6309360" y="3520440"/>
            <a:ext cx="1682496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6309360" y="352044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五行包子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8119872" y="3520440"/>
            <a:ext cx="1682496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8119872" y="352044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五行面包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9930384" y="3520440"/>
            <a:ext cx="1682496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9930384" y="352044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五行面条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6309360" y="4754880"/>
            <a:ext cx="1682496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6309360" y="47548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五行饺子皮</a:t>
            </a:r>
            <a:endParaRPr lang="en-US" sz="1500" dirty="0"/>
          </a:p>
        </p:txBody>
      </p:sp>
      <p:sp>
        <p:nvSpPr>
          <p:cNvPr id="36" name="Shape 30"/>
          <p:cNvSpPr/>
          <p:nvPr/>
        </p:nvSpPr>
        <p:spPr>
          <a:xfrm>
            <a:off x="8119872" y="4754880"/>
            <a:ext cx="1682496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5C43">
                <a:alpha val="12000"/>
              </a:srgbClr>
            </a:outerShdw>
          </a:effectLst>
        </p:spPr>
      </p:sp>
      <p:sp>
        <p:nvSpPr>
          <p:cNvPr id="37" name="Text 31"/>
          <p:cNvSpPr txBox="1"/>
          <p:nvPr/>
        </p:nvSpPr>
        <p:spPr>
          <a:xfrm>
            <a:off x="8119872" y="47548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五行早餐模式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9930384" y="47548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后续延伸方向，均需另行研发与验证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13 · 合作邀请与决策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恳请集团作出五项决策，启动90天验证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4A3628"/>
          </a:solidFill>
          <a:ln w="9525">
            <a:solidFill>
              <a:srgbClr val="7A5C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评估合作意愿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确认是否推进合作洽谈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64592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4A3628"/>
          </a:solidFill>
          <a:ln w="9525">
            <a:solidFill>
              <a:srgbClr val="7A5C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8745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175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指定对接窗口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154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明确集团对接部门与负责人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4A3628"/>
          </a:solidFill>
          <a:ln w="9525">
            <a:solidFill>
              <a:srgbClr val="7A5C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18745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578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确认试产资源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154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面粉供应与试产支持范围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69480" y="164592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4A3628"/>
          </a:solidFill>
          <a:ln w="9525">
            <a:solidFill>
              <a:srgbClr val="7A5C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8745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选择收益模式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154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在 A / B / C 中择定方向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09760" y="1645920"/>
            <a:ext cx="2103120" cy="2377440"/>
          </a:xfrm>
          <a:prstGeom prst="roundRect">
            <a:avLst>
              <a:gd name="adj" fmla="val 3478"/>
            </a:avLst>
          </a:prstGeom>
          <a:solidFill>
            <a:srgbClr val="4A3628"/>
          </a:solidFill>
          <a:ln w="9525">
            <a:solidFill>
              <a:srgbClr val="7A5C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38360" y="18745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83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启动90天验证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3154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确认启动日期与里程碑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待议定事项：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合作关系与协议形式　·　五行特色粉体生产方　·　收益模式及具体条款</a:t>
            </a:r>
            <a:endParaRPr lang="en-US" sz="14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0"/>
            <a:ext cx="640080" cy="64008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417320" y="47091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以五行配方赋能优质面粉，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共建特色主食产业新生态。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本简报为合作提案讨论稿，所有合作条件以双方正式签署之协议为准。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eat Gold Executive">
  <a:themeElements>
    <a:clrScheme name="Wheat Gold Executive">
      <a:dk1>
        <a:srgbClr val="3B2A1E"/>
      </a:dk1>
      <a:lt1>
        <a:srgbClr val="FFFFFF"/>
      </a:lt1>
      <a:dk2>
        <a:srgbClr val="6B5340"/>
      </a:dk2>
      <a:lt2>
        <a:srgbClr val="F7F2E8"/>
      </a:lt2>
      <a:accent1>
        <a:srgbClr val="B8893B"/>
      </a:accent1>
      <a:accent2>
        <a:srgbClr val="D9B56A"/>
      </a:accent2>
      <a:accent3>
        <a:srgbClr val="7A5C43"/>
      </a:accent3>
      <a:accent4>
        <a:srgbClr val="EADFC8"/>
      </a:accent4>
      <a:accent5>
        <a:srgbClr val="A0453A"/>
      </a:accent5>
      <a:accent6>
        <a:srgbClr val="4F6B4A"/>
      </a:accent6>
      <a:hlink>
        <a:srgbClr val="B8893B"/>
      </a:hlink>
      <a:folHlink>
        <a:srgbClr val="7A5C43"/>
      </a:folHlink>
    </a:clrScheme>
    <a:fontScheme name="Wheat Gold Executiv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中粮海嘉 × 五行特色食品预拌粉产业合作计划</dc:title>
  <dc:subject>DR-002 商业合作简报 V1.0</dc:subject>
  <dc:creator>五行特色食品预拌粉项目组</dc:creator>
  <cp:lastModifiedBy>五行特色食品预拌粉项目组</cp:lastModifiedBy>
  <cp:revision>1</cp:revision>
  <dcterms:created xsi:type="dcterms:W3CDTF">2026-10-29T15:08:17Z</dcterms:created>
  <dcterms:modified xsi:type="dcterms:W3CDTF">2026-10-29T15:08:17Z</dcterms:modified>
</cp:coreProperties>
</file>