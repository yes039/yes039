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e387be06-75fb-0e5d-9d51-aafa7465c9b3}">
          <p14:sldIdLst>
            <p14:sldId id="256"/>
          </p14:sldIdLst>
        </p14:section>
        <p14:section name="合作基础" id="{94e8e016-a2a2-7f2c-2966-480abbdf3503}">
          <p14:sldIdLst>
            <p14:sldId id="257"/>
            <p14:sldId id="258"/>
          </p14:sldIdLst>
        </p14:section>
        <p14:section name="产品与模式" id="{1903e921-ed52-8e9f-1214-4eb95378a451}">
          <p14:sldIdLst>
            <p14:sldId id="259"/>
            <p14:sldId id="260"/>
            <p14:sldId id="261"/>
          </p14:sldIdLst>
        </p14:section>
        <p14:section name="市场落地" id="{3776469d-b58c-c571-f142-38fcabebfc53}">
          <p14:sldIdLst>
            <p14:sldId id="262"/>
          </p14:sldIdLst>
        </p14:section>
        <p14:section name="收益与财务" id="{043e74f4-d124-4f24-15cd-e2780fbef54a}">
          <p14:sldIdLst>
            <p14:sldId id="263"/>
            <p14:sldId id="264"/>
            <p14:sldId id="265"/>
          </p14:sldIdLst>
        </p14:section>
        <p14:section name="行动计划" id="{9c8cd32f-46f5-3c91-98a7-46781cf900db}">
          <p14:sldIdLst>
            <p14:sldId id="266"/>
            <p14:sldId id="267"/>
            <p14:sldId id="268"/>
          </p14:sldIdLst>
        </p14:section>
        <p14:section name="附件" id="{65072dff-8dc0-e9fb-a210-b19db8b276b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6B5340"/>
                </a:solidFill>
                <a:latin typeface="+mn-lt"/>
              </a:rPr>
              <a:t>季度销量（吨）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季度销量（吨）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0&quot;吨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B2A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Q4（暂定）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</c:ser>
        <c:dLbls>
          <c:numFmt formatCode="0&quot;吨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3B2A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EADFC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封面。本简报为合作提案讨论稿，所有合作关系、收益模式与价格均待双方议定，不代表任何一方已作出承诺。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核心信息：传统面粉供应可以向“专用预拌粉→特色主食”延伸，获得差异化与附加值。本页不引用任何未经核实的市场规模数据。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双方资源互补：中粮海嘉提供面粉及相关产业资源，陈博士提供五行特色粉体配方，双方合作开发五行预拌粉。五行特色粉体由谁生产尚待议定。必须强调：合作关系尚待议定，未正式签约。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宽瑜膳元五行系列5个SKU：五黑馒头、五红馒头、茯苓馒头、姜黄馒头、海藻馒头，均为馒头专用预拌粉，25公斤/包。产品属普通食品，卡片文字为合规表述；各SKU的五行功能方向须经食品合规审核后再决定对外说法。茯苓、姜黄是否在适用的药食同源目录及使用范围内，须合规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生产流程：五行特色粉体＋面粉＋必要食品原料，经标准化混粉、品质检验、25公斤包装。生产主体资质（SC许可）、检验标准须在试产前核实。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产业链：预拌粉供应→原料经销商→馒头生产厂→终端渠道→消费者。B2B直接销售对象为原料经销商及馒头生产厂；附件所列3,592家门店属于潜在终端渠道资源，尚未去重及确认进场，不是直接客户。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四家候选代工厂试点：打样→试产→试吃→成本确认→首批订单→重复采购。不得宣称已有正式采购合约。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三种合作收益模式并列：A供货、B委托代工（无授权费）、C共同经营。不预设任何一案已获双方同意，也不作推荐。五行特色粉体生产方尚待议定。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第一年30吨五行预拌粉成品（不是五行特色粉体）：Q1 5吨、Q2 5吨、Q3 10吨、Q4暂定10吨，合计1,200包（25公斤/包，每吨40包）。均为目标，非已确认订单。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财务结构：营收=销量×单价；成本=面粉+特色粉体+辅料+加工+包装+检验+物流；毛利=营收−成本。三种模式的收益算法各不相同。未取得正式报价前，不编造价格、ROI或利润。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90天验证：产品研发、食品合规、试产、渠道测试、首批订单验证。里程碑：D30配方定型、D60试产合格、D90首批订单。排期为建议，待双方确认。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扩张路径：福建示范→山东、上海、北京、广东等区域；品类由馒头延伸至包子、面包、面条、饺子皮及早餐模式。均为后续方向，需另行验证，不设时间与规模承诺。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决策请求：评估合作意愿、指定对接窗口、确认试产资源、选择合作收益模式、启动90天验证。结尾主张：以五行配方赋能优质面粉，共建特色主食产业新生态。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附件依合作伙伴提供的渠道表：便利连锁2,980、卖场20、生鲜连锁102、精品店200、面包连锁230、中专大学35、二批25，合计3,592家。含罗森（广东）300家。均为潜在终端渠道，不是预拌粉的B2B直接客户，尚未去重及确认进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74520"/>
            <a:ext cx="1051560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DR-002 · 中粮海嘉 × 宽瑜膳元 · 五行特色食品预拌粉产业合作计划 · 讨论稿 V1.0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DR-002 · 商业合作提案 V1.0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87452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中粮海嘉 × 宽瑜膳元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五行特色食品预拌粉产业合作计划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从优质面粉到特色主食产业链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4800600"/>
            <a:ext cx="10515600" cy="0"/>
          </a:xfrm>
          <a:prstGeom prst="line">
            <a:avLst/>
          </a:prstGeom>
          <a:noFill/>
          <a:ln w="9525">
            <a:solidFill>
              <a:srgbClr val="7A5C4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9834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呈送：中粮海嘉集团管理层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提案方：宽瑜膳元　　2026年10月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983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合作讨论稿 · 不构成任何一方承诺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合作机会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从通用面粉，走向差异化、高附加值的特色预拌粉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3977640"/>
            <a:ext cx="2331720" cy="1417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通用面粉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360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标准化大宗供应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竞争焦点在规模与价格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63240" y="3063240"/>
            <a:ext cx="2331720" cy="233172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4612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馒头专用预拌粉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37216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配方前置、即开即用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帮助客户稳定品质、简化工序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0" y="2148840"/>
            <a:ext cx="2331720" cy="32461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331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五行特色主食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8072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以五行功能配方形成差异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带动终端产品识别度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附加值提升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1600200"/>
            <a:ext cx="3291840" cy="37947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59536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合作切入点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95360" y="228600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953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延伸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226771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在既有面粉供应基础上，向下游延伸一层产品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95360" y="32918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953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差异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189720" y="32735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以五款特色配方避开同质化价格竞争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595360" y="429768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53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复制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189720" y="427939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统一25公斤规格，便于馒头生产厂标准化复购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注：本页为商业逻辑示意，未引用市场规模数据；如需量化，须以权威统计或第三方调研为准。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 · 双方资源互补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中粮海嘉面粉 × 陈博士配方，合作开发五行预拌粉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201899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中粮海嘉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面粉及相关产业资源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80160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优质面粉原料供应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0120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80160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生产与品控体系衔接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60120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280160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仓储物流与供应链网络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960120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280160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相关产业资源（范围待确认）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068312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88352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8547" y="2018995"/>
            <a:ext cx="351130" cy="35113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302752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宽瑜膳元 · 陈博士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8302752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五行特色粉体配方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7479792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799832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五行特色粉体配方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7479792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799832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预拌粉配方与工艺指导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479792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799832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五款产品研发与定型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7479792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99832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特色产品定位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541264" y="2697480"/>
            <a:ext cx="1097280" cy="10972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6557" y="2982773"/>
            <a:ext cx="526694" cy="526694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5239512" y="3794760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合作开发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五行预拌粉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5239512" y="4343400"/>
            <a:ext cx="1709928" cy="685800"/>
          </a:xfrm>
          <a:prstGeom prst="roundRect">
            <a:avLst>
              <a:gd name="adj" fmla="val 10667"/>
            </a:avLst>
          </a:prstGeom>
          <a:solidFill>
            <a:schemeClr val="accent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5239512" y="4343400"/>
            <a:ext cx="1709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合作关系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尚待议定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注：双方尚未签署任何合作协议；中粮海嘉相关资源的具体范围以集团正式确认为准；五行特色粉体由谁生产尚待议定。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五大产品矩阵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宽瑜膳元五行系列：5个SKU，均为馒头专用预拌粉</a:t>
            </a:r>
            <a:endParaRPr lang="en-US" sz="3000" dirty="0"/>
          </a:p>
        </p:txBody>
      </p:sp>
      <p:sp>
        <p:nvSpPr>
          <p:cNvPr id="4" name="product-五黑馒头"/>
          <p:cNvSpPr/>
          <p:nvPr/>
        </p:nvSpPr>
        <p:spPr>
          <a:xfrm>
            <a:off x="548640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8992" y="1874520"/>
            <a:ext cx="1005840" cy="1005840"/>
          </a:xfrm>
          <a:prstGeom prst="ellipse">
            <a:avLst/>
          </a:prstGeom>
          <a:solidFill>
            <a:srgbClr val="2F2A27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78992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黑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五黑馒头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黑色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五黑食材配伍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传统“五黑”食养理念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14" name="product-五红馒头"/>
          <p:cNvSpPr/>
          <p:nvPr/>
        </p:nvSpPr>
        <p:spPr>
          <a:xfrm>
            <a:off x="2798064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026664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026664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28416" y="1874520"/>
            <a:ext cx="1005840" cy="1005840"/>
          </a:xfrm>
          <a:prstGeom prst="ellipse">
            <a:avLst/>
          </a:prstGeom>
          <a:solidFill>
            <a:srgbClr val="A0453A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28416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红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2889504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五红馒头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2889504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红色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35224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五红食材配伍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传统“五红”食养理念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72384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9504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24" name="product-茯苓馒头"/>
          <p:cNvSpPr/>
          <p:nvPr/>
        </p:nvSpPr>
        <p:spPr>
          <a:xfrm>
            <a:off x="5047488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276088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27608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77840" y="187452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苓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5138928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茯苓馒头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5138928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白色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84648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药食同源原料茯苓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入面制作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321808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38928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34" name="product-姜黄馒头"/>
          <p:cNvSpPr/>
          <p:nvPr/>
        </p:nvSpPr>
        <p:spPr>
          <a:xfrm>
            <a:off x="7296912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525512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52551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827264" y="1874520"/>
            <a:ext cx="1005840" cy="1005840"/>
          </a:xfrm>
          <a:prstGeom prst="ellipse">
            <a:avLst/>
          </a:prstGeom>
          <a:solidFill>
            <a:srgbClr val="D39B2E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27264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姜</a:t>
            </a:r>
            <a:endParaRPr lang="en-US" sz="3200" dirty="0"/>
          </a:p>
        </p:txBody>
      </p:sp>
      <p:sp>
        <p:nvSpPr>
          <p:cNvPr id="39" name="Text 37"/>
          <p:cNvSpPr txBox="1"/>
          <p:nvPr/>
        </p:nvSpPr>
        <p:spPr>
          <a:xfrm>
            <a:off x="7388352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姜黄馒头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7388352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黄色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7434072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姜黄入面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天然金黄色泽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571232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88352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44" name="product-海藻馒头"/>
          <p:cNvSpPr/>
          <p:nvPr/>
        </p:nvSpPr>
        <p:spPr>
          <a:xfrm>
            <a:off x="9546336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774936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7493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05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076688" y="1874520"/>
            <a:ext cx="1005840" cy="1005840"/>
          </a:xfrm>
          <a:prstGeom prst="ellipse">
            <a:avLst/>
          </a:prstGeom>
          <a:solidFill>
            <a:srgbClr val="4F6B4A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076688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藻</a:t>
            </a:r>
            <a:endParaRPr lang="en-US" sz="3200" dirty="0"/>
          </a:p>
        </p:txBody>
      </p:sp>
      <p:sp>
        <p:nvSpPr>
          <p:cNvPr id="49" name="Text 47"/>
          <p:cNvSpPr txBox="1"/>
          <p:nvPr/>
        </p:nvSpPr>
        <p:spPr>
          <a:xfrm>
            <a:off x="9637776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海藻馒头</a:t>
            </a:r>
            <a:endParaRPr lang="en-US" sz="2000" dirty="0"/>
          </a:p>
        </p:txBody>
      </p:sp>
      <p:sp>
        <p:nvSpPr>
          <p:cNvPr id="50" name="Text 48"/>
          <p:cNvSpPr txBox="1"/>
          <p:nvPr/>
        </p:nvSpPr>
        <p:spPr>
          <a:xfrm>
            <a:off x="9637776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绿色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9683496" y="3977640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海藻入面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轻食主食定位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820656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637776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注：产品为普通食品，对外不作预防、治疗疾病或保健功能声称；各SKU功能方向表述须经食品合规审核后方可使用；配方组成以陈博士最终确认为准。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产品生产流程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四步标准化，确保每一包品质一致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90195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五行特色粉体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188720" y="2304288"/>
            <a:ext cx="1280160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23042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生产方待议定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697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48640" y="30175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优质面粉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8862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48640" y="42062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必要食品原料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246120" y="1828800"/>
            <a:ext cx="320040" cy="3246120"/>
          </a:xfrm>
          <a:prstGeom prst="rightBrace">
            <a:avLst/>
          </a:prstGeom>
          <a:noFill/>
          <a:ln w="15875">
            <a:solidFill>
              <a:srgbClr val="7A5C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3192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7915" y="2476195"/>
            <a:ext cx="351130" cy="35113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06908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06908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02336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标准化混粉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按定型配方比例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均匀混配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08990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3" name="Shape 20"/>
          <p:cNvSpPr/>
          <p:nvPr/>
        </p:nvSpPr>
        <p:spPr>
          <a:xfrm>
            <a:off x="653796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2376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2476195"/>
            <a:ext cx="351130" cy="35113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667512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675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662940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品质检验</a:t>
            </a:r>
            <a:endParaRPr lang="en-US" sz="1800" dirty="0"/>
          </a:p>
        </p:txBody>
      </p:sp>
      <p:sp>
        <p:nvSpPr>
          <p:cNvPr id="29" name="Text 25"/>
          <p:cNvSpPr txBox="1"/>
          <p:nvPr/>
        </p:nvSpPr>
        <p:spPr>
          <a:xfrm>
            <a:off x="662940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按适用食品安全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国家标准检验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869594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1" name="Shape 27"/>
          <p:cNvSpPr/>
          <p:nvPr/>
        </p:nvSpPr>
        <p:spPr>
          <a:xfrm>
            <a:off x="914400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982980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9995" y="2476195"/>
            <a:ext cx="351130" cy="351130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928116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28116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923544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25公斤包装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923544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统一规格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标识、批次可追溯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3584448" y="3291840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Shape 34"/>
          <p:cNvSpPr/>
          <p:nvPr/>
        </p:nvSpPr>
        <p:spPr>
          <a:xfrm>
            <a:off x="3931920" y="5120640"/>
            <a:ext cx="7315200" cy="685800"/>
          </a:xfrm>
          <a:prstGeom prst="roundRect">
            <a:avLst>
              <a:gd name="adj" fmla="val 10667"/>
            </a:avLst>
          </a:prstGeom>
          <a:solidFill>
            <a:schemeClr val="accent4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5257800"/>
            <a:ext cx="384048" cy="384048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4663440" y="512064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合规前提：生产主体须具备相应食品生产许可（SC），原料与产品须符合食品安全国家标准——资质待逐项核实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05 · 产业商业模式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一条链路，打通从预拌粉到消费者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69748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9362" y="28995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预拌粉供应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面粉 + 特色粉体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标准化成品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87168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hape 7"/>
          <p:cNvSpPr/>
          <p:nvPr/>
        </p:nvSpPr>
        <p:spPr>
          <a:xfrm>
            <a:off x="2843784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92424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506" y="289956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89504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原料经销商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935224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区域分销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覆盖与配送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782312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6" name="Shape 12"/>
          <p:cNvSpPr/>
          <p:nvPr/>
        </p:nvSpPr>
        <p:spPr>
          <a:xfrm>
            <a:off x="5138928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687568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650" y="2899562"/>
            <a:ext cx="373075" cy="37307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184648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馒头生产厂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230368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使用预拌粉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生产特色馒头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077456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2" name="Shape 17"/>
          <p:cNvSpPr/>
          <p:nvPr/>
        </p:nvSpPr>
        <p:spPr>
          <a:xfrm>
            <a:off x="7434072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982712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794" y="2899562"/>
            <a:ext cx="373075" cy="37307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79792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终端渠道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7525512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潜在终端资源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详见附件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9372600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9729216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0277856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9938" y="2899562"/>
            <a:ext cx="373075" cy="37307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774936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消费者</a:t>
            </a:r>
            <a:endParaRPr lang="en-US" sz="1700" dirty="0"/>
          </a:p>
        </p:txBody>
      </p:sp>
      <p:sp>
        <p:nvSpPr>
          <p:cNvPr id="32" name="Text 25"/>
          <p:cNvSpPr txBox="1"/>
          <p:nvPr/>
        </p:nvSpPr>
        <p:spPr>
          <a:xfrm>
            <a:off x="9820656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购买与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复购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1417320"/>
            <a:ext cx="416052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731520" y="14173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上游：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中粮海嘉面粉 + 陈博士配方，合作开发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2843784" y="2011680"/>
            <a:ext cx="4169664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2843784" y="2011680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B2B 直接销售对象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7434072" y="2011680"/>
            <a:ext cx="4169664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7434072" y="2011680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下游终端（间接拉动，非直接客户）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1481328" y="1920240"/>
            <a:ext cx="0" cy="594360"/>
          </a:xfrm>
          <a:prstGeom prst="line">
            <a:avLst/>
          </a:prstGeom>
          <a:noFill/>
          <a:ln w="15875">
            <a:solidFill>
              <a:srgbClr val="7A5C43"/>
            </a:solidFill>
            <a:prstDash val="solid"/>
            <a:tailEnd type="triangle"/>
          </a:ln>
        </p:spPr>
      </p:sp>
      <p:sp>
        <p:nvSpPr>
          <p:cNvPr id="40" name="Shape 33"/>
          <p:cNvSpPr/>
          <p:nvPr/>
        </p:nvSpPr>
        <p:spPr>
          <a:xfrm>
            <a:off x="548640" y="5212080"/>
            <a:ext cx="11064240" cy="457200"/>
          </a:xfrm>
          <a:prstGeom prst="leftArrow">
            <a:avLst/>
          </a:prstGeom>
          <a:solidFill>
            <a:schemeClr val="accent4"/>
          </a:solidFill>
          <a:ln/>
        </p:spPr>
      </p:sp>
      <p:sp>
        <p:nvSpPr>
          <p:cNvPr id="41" name="Text 34"/>
          <p:cNvSpPr txBox="1"/>
          <p:nvPr/>
        </p:nvSpPr>
        <p:spPr>
          <a:xfrm>
            <a:off x="109728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订单与回款逐级回流 · 终端复购拉动预拌粉持续采购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06 · 候选代工厂试点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四家候选代工厂，六步验证走向重复采购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20071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64992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0071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16552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B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416552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81344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9944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252" y="20071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2904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C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232904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997696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26296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20071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049256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D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10049256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3154680"/>
            <a:ext cx="1892808" cy="868680"/>
          </a:xfrm>
          <a:prstGeom prst="homePlate">
            <a:avLst/>
          </a:prstGeom>
          <a:solidFill>
            <a:schemeClr val="accent2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77724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打样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按五款配方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制作样品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2404872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2633472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试产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2496312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代工厂产线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小批量试制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261104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4489704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试吃</a:t>
            </a:r>
            <a:endParaRPr lang="en-US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4352544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收集口感与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外观反馈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117336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6345936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成本确认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208776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核算原料与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加工成本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973568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8202168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首批订单</a:t>
            </a:r>
            <a:endParaRPr lang="en-US" sz="1600" dirty="0"/>
          </a:p>
        </p:txBody>
      </p:sp>
      <p:sp>
        <p:nvSpPr>
          <p:cNvPr id="38" name="Text 32"/>
          <p:cNvSpPr txBox="1"/>
          <p:nvPr/>
        </p:nvSpPr>
        <p:spPr>
          <a:xfrm>
            <a:off x="8065008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确认首批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采购意向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9829800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1005840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重复采购</a:t>
            </a:r>
            <a:endParaRPr lang="en-US" sz="1600" dirty="0"/>
          </a:p>
        </p:txBody>
      </p:sp>
      <p:sp>
        <p:nvSpPr>
          <p:cNvPr id="41" name="Text 35"/>
          <p:cNvSpPr txBox="1"/>
          <p:nvPr/>
        </p:nvSpPr>
        <p:spPr>
          <a:xfrm>
            <a:off x="992124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稳定复购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形成样板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548640" y="4983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产品验证</a:t>
            </a:r>
            <a:endParaRPr lang="en-US" sz="1200" dirty="0"/>
          </a:p>
        </p:txBody>
      </p:sp>
      <p:sp>
        <p:nvSpPr>
          <p:cNvPr id="43" name="Text 37"/>
          <p:cNvSpPr txBox="1"/>
          <p:nvPr/>
        </p:nvSpPr>
        <p:spPr>
          <a:xfrm>
            <a:off x="7973568" y="4983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商业验证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48640" y="5394960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45" name="Text 39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当前状态：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四家均为候选试点对象，尚无正式采购合约；进入每一步须以上一步结果为准。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07 · 三种合作收益模式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三种合作收益模式并列，供双方比较议定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505456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Shape 3"/>
          <p:cNvSpPr/>
          <p:nvPr/>
        </p:nvSpPr>
        <p:spPr>
          <a:xfrm>
            <a:off x="2651760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51760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246120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特色粉体供货合作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50408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5696712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96712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委托代工合作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95360" y="1554480"/>
            <a:ext cx="2971800" cy="731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8741664" y="1682496"/>
            <a:ext cx="475488" cy="475488"/>
          </a:xfrm>
          <a:prstGeom prst="ellipse">
            <a:avLst/>
          </a:prstGeom>
          <a:solidFill>
            <a:schemeClr val="bg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41664" y="16824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336024" y="1554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共同经营利润分配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1105509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44952"/>
                <a:gridCol w="3044952"/>
                <a:gridCol w="304495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合作方式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按约定供应五行特色粉体，用于预拌粉生产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陈博士委托海嘉代工生产五行预拌粉，无授权费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双方共同经营五行预拌粉，按约定分配利润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收益来源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粉体供货收入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代工加工费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共同经营利润分成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双方投入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低 — 中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管理复杂度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低：供销关系清晰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中：须质量与配方保密约定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高：须共管机制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待议定要点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粉体生产方、供货价格与数量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代工费、起订量与交付标准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出资、共管机制与分配比例</a:t>
                      </a:r>
                      <a:endParaRPr lang="en-US" sz="13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注：三案并列、无先后与推荐顺序，均未获双方同意；五行特色粉体由谁生产尚待议定；具体条款须经双方正式谈判确定。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08 · 第一年销售计划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第一年目标：30吨五行预拌粉成品，合1,200包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544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92440" y="1664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30吨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3042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全年五行预拌粉成品（非特色粉体）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863840" y="29260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1,200包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6758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按25公斤 / 包换算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43400"/>
          <a:ext cx="37490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777240"/>
                <a:gridCol w="868680"/>
                <a:gridCol w="9601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季度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包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累计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Q1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Q3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Q4 暂定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注：30吨指五行预拌粉成品，不是五行特色粉体；Q4 10吨为暂定；为提案方目标，非已确认订单。1吨 = 40包（25公斤 / 包）。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09 · 财务与获利逻辑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获利结构已明确，价格与利润待正式报价后测算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55648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556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营收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0992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销量（吨）× 出厂单价（元 / 吨）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1214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30吨五行预拌粉成品 ×［待报价］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79192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834640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8346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成本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7889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面粉 + 特色粉体 + 辅料 + 混配加工 + 包装 + 检验 + 物流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00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各项单价［待报价］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913632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9136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毛利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867912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营收 − 成本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27939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［待测算］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1600200"/>
            <a:ext cx="3931920" cy="3072384"/>
          </a:xfrm>
          <a:prstGeom prst="roundRect">
            <a:avLst>
              <a:gd name="adj" fmla="val 2381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90956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三种模式的收益计算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909560" y="23317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9095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0" y="23317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粉体供货量 × 粉体单价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09560" y="308152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0956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308152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代工量（吨）× 代工加工费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909560" y="383133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90956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383133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共同经营净利 × 约定分配比例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166360"/>
            <a:ext cx="457200" cy="457200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417320" y="4937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测算前置条件：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取得面粉、特色粉体、代工加工及物流的正式报价后，方可计算单价、毛利率与投资回报；本简报不预估任何价格或利润。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10 · 90天合作验证计划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90天，用五项验证回答“能不能做、值不值得做”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13639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10896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第1–30天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研发与合规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71032" y="1554480"/>
            <a:ext cx="2779776" cy="5486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第31–60天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试产与试吃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80567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第61–90天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渠道与订单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产品研发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108960" y="2880360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08960" y="2386584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3865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五款配方定型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9535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食品合规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108960" y="3502152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08960" y="3008376"/>
            <a:ext cx="425196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218688" y="300837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原料、标签与资质核查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5753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试产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108960" y="4123944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0" y="3630168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53328" y="36301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候选代工厂小批量试产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渠道测试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108960" y="4745736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0920" y="4251960"/>
            <a:ext cx="330708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70648" y="425196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福建渠道试吃与反馈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8188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首批订单验证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108960" y="5367528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78240" y="4873752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887968" y="4873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首批订单与复购意向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8815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48056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D30 配方定型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2279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31520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D60 试产合格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145743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D90 首批订单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注：各工作项起止时间为建议排期，须待双方确认启动日期及资源后定稿。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11 · 未来产业扩张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福建验证成功后，区域复制与品类延伸双线推进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区域复制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011680" cy="20116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6517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福建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示范市场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 flipV="1">
            <a:off x="2651760" y="2450592"/>
            <a:ext cx="1097280" cy="120700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794760" y="214884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230428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297680" y="214884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山东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 flipV="1">
            <a:off x="2651760" y="3410712"/>
            <a:ext cx="1097280" cy="24688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794760" y="310896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326440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297680" y="31089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上海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651760" y="3657600"/>
            <a:ext cx="1097280" cy="71323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794760" y="406908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224528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297680" y="406908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北京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2651760" y="3657600"/>
            <a:ext cx="1097280" cy="167335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794760" y="502920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518464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7680" y="5029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广东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3794760" y="5852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等更多区域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品类延伸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6309360" y="2057400"/>
            <a:ext cx="530352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6537960" y="2057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现阶段：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五行馒头专用预拌粉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8778240" y="2971800"/>
            <a:ext cx="365760" cy="36576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6309360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6309360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五行包子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8119872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8119872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五行面包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930384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3" name="Text 27"/>
          <p:cNvSpPr txBox="1"/>
          <p:nvPr/>
        </p:nvSpPr>
        <p:spPr>
          <a:xfrm>
            <a:off x="9930384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五行面条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6309360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6309360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五行饺子皮</a:t>
            </a:r>
            <a:endParaRPr lang="en-US" sz="1500" dirty="0"/>
          </a:p>
        </p:txBody>
      </p:sp>
      <p:sp>
        <p:nvSpPr>
          <p:cNvPr id="36" name="Shape 30"/>
          <p:cNvSpPr/>
          <p:nvPr/>
        </p:nvSpPr>
        <p:spPr>
          <a:xfrm>
            <a:off x="8119872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8119872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五行早餐模式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9930384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后续延伸方向，均需另行研发与验证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12 · 合作邀请与决策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恳请集团作出五项决策，启动90天验证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评估合作意愿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确认是否推进合作洽谈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752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1752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指定对接窗口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明确集团对接部门与负责人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确认试产资源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面粉供应与试产支持范围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6948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选择收益模式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在 A / B / C 中择定方向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50976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3836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3836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73836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启动90天验证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73836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确认启动日期与里程碑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待议定事项：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合作关系与协议形式　·　五行特色粉体生产方　·　收益模式及具体条款</a:t>
            </a:r>
            <a:endParaRPr lang="en-US" sz="14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892040"/>
            <a:ext cx="640080" cy="6400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417320" y="470916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以五行配方赋能优质面粉，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共建特色主食产业新生态。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本简报为合作提案讨论稿，所有合作条件以双方正式签署之协议为准。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附件 · 终端渠道资源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附件：潜在终端渠道资源明细（合作伙伴提供）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017520" cy="411480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198333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51460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3,592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832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家潜在终端门店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七类渠道合计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4114800"/>
            <a:ext cx="18288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41148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合作伙伴提供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2960" y="4526280"/>
            <a:ext cx="18288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45262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尚未去重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22960" y="4937760"/>
            <a:ext cx="18288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49377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尚未确认进场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349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数据口径以合作伙伴原始清单为准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600200"/>
          <a:ext cx="7772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394960"/>
                <a:gridCol w="1097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渠道类型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主要客户（店数）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小计（家）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便利连锁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美宜佳（福建）1,300 · 见福（福建）1,000 · 罗森（广东）300 · 邻几（福建）150 · 十分（厦门）105 · 罗森（福建）100 · 7-ELEVEN（福建）100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2,980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卖场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天虹 8 · 乐海 8 · 世纪汇鲜 3 · 人人乐 1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生鲜连锁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民兴 50 · 金红日 15 · 闽篮 12 · 集正 12 · 福鲜生 7 · 人和旺 6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精品店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元初 181 · 美岁 10 · 千滋百味 9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面包连锁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安德鲁森（厦门）150 · 澳联 80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230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中专大学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鹭银海 20 · 鸿润福 8 · 可思汉 6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二批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百胜达、达昌隆等 13 · 恩记、钰信、云翔等 12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合计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七类渠道小计合计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3,592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3840480" y="5394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客户定位：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以上为馒头产品潜在终端渠道，非预拌粉直接客户；B2B 直接客户为原料经销商及馒头生产厂。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注：数据依合作伙伴提供之渠道表，小计依原表；含罗森（广东）300家；部分品牌明细与小计略有差异，待核对；未去重、未确认进场。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eat Gold Executive">
  <a:themeElements>
    <a:clrScheme name="Wheat Gold Executive">
      <a:dk1>
        <a:srgbClr val="3B2A1E"/>
      </a:dk1>
      <a:lt1>
        <a:srgbClr val="FFFFFF"/>
      </a:lt1>
      <a:dk2>
        <a:srgbClr val="6B5340"/>
      </a:dk2>
      <a:lt2>
        <a:srgbClr val="F7F2E8"/>
      </a:lt2>
      <a:accent1>
        <a:srgbClr val="B8893B"/>
      </a:accent1>
      <a:accent2>
        <a:srgbClr val="D9B56A"/>
      </a:accent2>
      <a:accent3>
        <a:srgbClr val="7A5C43"/>
      </a:accent3>
      <a:accent4>
        <a:srgbClr val="EADFC8"/>
      </a:accent4>
      <a:accent5>
        <a:srgbClr val="A0453A"/>
      </a:accent5>
      <a:accent6>
        <a:srgbClr val="4F6B4A"/>
      </a:accent6>
      <a:hlink>
        <a:srgbClr val="B8893B"/>
      </a:hlink>
      <a:folHlink>
        <a:srgbClr val="7A5C43"/>
      </a:folHlink>
    </a:clrScheme>
    <a:fontScheme name="Wheat Gold Executiv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中粮海嘉 × 宽瑜膳元 五行特色食品预拌粉产业合作计划</dc:title>
  <dc:subject>DR-002 商业合作简报 V1.0</dc:subject>
  <dc:creator>宽瑜膳元</dc:creator>
  <cp:lastModifiedBy>宽瑜膳元</cp:lastModifiedBy>
  <cp:revision>1</cp:revision>
  <dcterms:created xsi:type="dcterms:W3CDTF">2026-10-30T03:56:19Z</dcterms:created>
  <dcterms:modified xsi:type="dcterms:W3CDTF">2026-10-30T03:56:19Z</dcterms:modified>
</cp:coreProperties>
</file>